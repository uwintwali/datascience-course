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18"/>
  </p:notesMasterIdLst>
  <p:handoutMasterIdLst>
    <p:handoutMasterId r:id="rId19"/>
  </p:handoutMasterIdLst>
  <p:sldIdLst>
    <p:sldId id="2561" r:id="rId5"/>
    <p:sldId id="2562" r:id="rId6"/>
    <p:sldId id="2563" r:id="rId7"/>
    <p:sldId id="2564" r:id="rId8"/>
    <p:sldId id="2565" r:id="rId9"/>
    <p:sldId id="2566" r:id="rId10"/>
    <p:sldId id="2567" r:id="rId11"/>
    <p:sldId id="2568" r:id="rId12"/>
    <p:sldId id="2569" r:id="rId13"/>
    <p:sldId id="2570" r:id="rId14"/>
    <p:sldId id="2572" r:id="rId15"/>
    <p:sldId id="2573" r:id="rId16"/>
    <p:sldId id="25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ing Methods and Sample Size" id="{DFB2F3CD-5C27-4A85-B63D-47B8534601EF}">
          <p14:sldIdLst>
            <p14:sldId id="2561"/>
          </p14:sldIdLst>
        </p14:section>
        <p14:section name="Introduction to Sampling" id="{5E4E186A-CAEC-421E-9432-A23FCB319745}">
          <p14:sldIdLst>
            <p14:sldId id="2562"/>
            <p14:sldId id="2563"/>
          </p14:sldIdLst>
        </p14:section>
        <p14:section name="Types of Sampling Methods" id="{D447BAED-B2C4-4B57-A067-1EB53192263B}">
          <p14:sldIdLst>
            <p14:sldId id="2564"/>
            <p14:sldId id="2565"/>
            <p14:sldId id="2566"/>
            <p14:sldId id="2567"/>
            <p14:sldId id="2568"/>
          </p14:sldIdLst>
        </p14:section>
        <p14:section name="Sample Size Determination" id="{58F2481B-977A-437C-AE98-38279402F653}">
          <p14:sldIdLst>
            <p14:sldId id="2569"/>
            <p14:sldId id="2570"/>
          </p14:sldIdLst>
        </p14:section>
        <p14:section name="Python Implementation Examples" id="{E0168C35-8C52-4D98-991F-E369DD4412CC}">
          <p14:sldIdLst>
            <p14:sldId id="2572"/>
            <p14:sldId id="2573"/>
          </p14:sldIdLst>
        </p14:section>
        <p14:section name="Conclusion" id="{F2F86404-E757-48EC-87B4-332201DFC2C7}">
          <p14:sldIdLst>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58662-19B2-4A10-BAB0-8EC1310183F3}" v="18" dt="2025-11-07T16:00:45.726"/>
    <p1510:client id="{C77DFEED-C7A0-B78F-A3FA-46155BF3A219}" v="11" dt="2025-11-07T16:11:09.933"/>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11/7/2025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201304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Sampling?</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2310078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Sampling is the process of selecting a subset of individuals from a larger population to make inferences about the whole. It is a fundamental concept in statistics and research methodology, allowing analysts to gather insights without the need to study every member of a population. This approach significantly reduces the cost and time associated with data collection. Sampling is used in various fields such as market research, public health, and social sciences to draw conclusions about population behaviors, preferences, or characteristics. By carefully choosing a representative sample, researchers can ensure that their findings are generalizable and reliable.</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500155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Simple Random Sampling, Stratified Sampling, Systematic Sampling, Cluster Sampling</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2760549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Simple random sampling is a method where every individual in the population has an equal chance of being selected. This technique is straightforward and minimizes bias, making it ideal for general-purpose surveys. In Python, this can be implemented using the random.sample function, which selects a specified number of items randomly from a dataset. While simple random sampling is unbiased, it may not guarantee representation of all subgroups within the population, especially if the sample size is small. Therefore, it is best used when the population is homogeneous or when subgroup representation is not critical.</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2613879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Stratified sampling involves dividing the population into distinct subgroups or strata, such as gender, age, or region, and then sampling proportionally from each stratum. This method ensures that all relevant subgroups are adequately represented in the sample, improving the accuracy and reliability of the results. In Python, stratified sampling can be performed using groupby and apply functions to sample a fraction from each group. This technique is particularly useful in heterogeneous populations where subgroup characteristics significantly influence the outcome of interest. Stratified sampling enhances the precision of estimates and is commonly used in demographic studies and opinion polls.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2603267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Systematic sampling selects every k-th individual from a list after a random starting point. For example, if k=10, every 10th person is chosen. This method is easy to implement and ensures a spread across the population. In Python, it can be done using slicing techniques like data[::k]. However, systematic sampling may introduce bias if the data has periodic patterns that align with the sampling interval. Despite this limitation, it is widely used in quality control and industrial processes where simplicity and speed are essential. It provides a good approximation of random sampling when the population is randomly ordered.</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505504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Cluster sampling involves dividing the population into clusters, such as schools or regions, and then randomly selecting entire clusters for study. All individuals within the chosen clusters are included in the sample. This method is cost-effective and practical when the population is geographically dispersed. In Python, cluster sampling can be implemented by filtering data based on randomly selected cluster identifiers. While cluster sampling reduces travel and administrative costs, it may lead to less precise estimates due to intra-cluster homogeneity. It is commonly used in large-scale surveys and field research where accessing the entire population is impractical.</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2415274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Sample Size Formula</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3790571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Determining the appropriate sample size is crucial for ensuring the reliability of statistical inferences. The standard formula for sample size is n = (Z^2 * p * (1 - p)) / E^2, where Z is the Z-score corresponding to the desired confidence level, p is the estimated proportion of the population, and E is the margin of error. For example, with Z=1.96 (95% confidence), p=0.5, and E=0.05, the required sample size is approximately 384. This formula helps balance precision and resource constraints, ensuring that the sample is large enough to detect meaningful differences or trends without being unnecessarily large.</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202933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Python, simple random sampling can be performed using the random.sample function. This function selects a specified number of items randomly from a dataset. For example, sample = random.sample(data, 10) selects 10 random entries from the data. This method is useful for quick and unbiased sampling when subgroup representation is not a concern. It is widely used in exploratory data analysis and testing scenarios where a representative subset is needed for initial insights or validation.</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1229215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Stratified sampling in Python can be implemented using the groupby and apply functions. For instance, grouped = data.groupby('Gender'); sample = grouped.apply(lambda x: x.sample(frac=0.1)) samples 10% from each gender group. This approach ensures that each subgroup is proportionally represented in the sample, enhancing the accuracy of statistical estimates. It is particularly useful in datasets with categorical variables where subgroup differences are significant. Stratified sampling is commonly applied in demographic analysis, customer segmentation, and policy evaluation.</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151934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Sampling is a vital technique in data analysis that enables efficient and cost-effective insights into large populations. Various methods such as simple random, stratified, systematic, and cluster sampling cater to different research needs and population structures. Understanding the sample size formula ensures that samples are statistically valid and reliable. Python provides powerful tools for implementing these sampling methods, making it accessible for analysts and researchers. By applying the appropriate sampling technique and ensuring adequate sample size, one can achieve accurate and meaningful results. Questions and discussions are encouraged to clarify concepts and explore practical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1003965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a:t>Click to edit Master title style</a:t>
            </a:r>
          </a:p>
        </p:txBody>
      </p:sp>
    </p:spTree>
    <p:extLst>
      <p:ext uri="{BB962C8B-B14F-4D97-AF65-F5344CB8AC3E}">
        <p14:creationId xmlns:p14="http://schemas.microsoft.com/office/powerpoint/2010/main" val="2709833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Oval 7">
            <a:extLst>
              <a:ext uri="{FF2B5EF4-FFF2-40B4-BE49-F238E27FC236}">
                <a16:creationId xmlns:a16="http://schemas.microsoft.com/office/drawing/2014/main"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5436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5898630" cy="1628639"/>
          </a:xfrm>
        </p:spPr>
        <p:txBody>
          <a:bodyPr anchor="t">
            <a:normAutofit/>
          </a:bodyPr>
          <a:lstStyle>
            <a:lvl1pPr>
              <a:defRPr sz="5600"/>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8818"/>
            <a:ext cx="5275973"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219"/>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577705"/>
            <a:ext cx="5895668" cy="4266084"/>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2229A90D-5A73-BC75-5D99-5E652EA0F3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2882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7534384" cy="3513095"/>
          </a:xfrm>
        </p:spPr>
        <p:txBody>
          <a:bodyPr anchor="t" anchorCtr="0">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76116" y="4017192"/>
            <a:ext cx="4063655" cy="2814212"/>
          </a:xfrm>
        </p:spPr>
        <p:txBody>
          <a:bodyPr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3">
            <a:extLst>
              <a:ext uri="{FF2B5EF4-FFF2-40B4-BE49-F238E27FC236}">
                <a16:creationId xmlns:a16="http://schemas.microsoft.com/office/drawing/2014/main" id="{0E7C9240-617B-1770-A044-328C31CB6A15}"/>
              </a:ext>
            </a:extLst>
          </p:cNvPr>
          <p:cNvSpPr>
            <a:spLocks noGrp="1"/>
          </p:cNvSpPr>
          <p:nvPr>
            <p:ph type="ftr" sz="quarter" idx="11"/>
          </p:nvPr>
        </p:nvSpPr>
        <p:spPr>
          <a:xfrm>
            <a:off x="7704945" y="118818"/>
            <a:ext cx="3779918"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a:lstStyle>
            <a:lvl1pPr>
              <a:defRPr lang="en-US" dirty="0"/>
            </a:lvl1pPr>
          </a:lstStyle>
          <a:p>
            <a:r>
              <a:rPr lang="en-US"/>
              <a:t> </a:t>
            </a:r>
          </a:p>
        </p:txBody>
      </p:sp>
      <p:pic>
        <p:nvPicPr>
          <p:cNvPr id="6" name="Graphic 5">
            <a:extLst>
              <a:ext uri="{FF2B5EF4-FFF2-40B4-BE49-F238E27FC236}">
                <a16:creationId xmlns:a16="http://schemas.microsoft.com/office/drawing/2014/main" id="{1556323E-CFBE-3917-9F8D-C2431E41FB0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 y="82296"/>
            <a:ext cx="4390515" cy="2418146"/>
          </a:xfrm>
        </p:spPr>
        <p:txBody>
          <a:bodyPr>
            <a:norm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0" y="4373735"/>
            <a:ext cx="4389120" cy="2459736"/>
          </a:xfrm>
        </p:spPr>
        <p:txBody>
          <a:bodyPr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a:xfrm>
            <a:off x="6190488" y="110364"/>
            <a:ext cx="5358238"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a:xfrm>
            <a:off x="6190488" y="6468346"/>
            <a:ext cx="2899852" cy="365125"/>
          </a:xfrm>
        </p:spPr>
        <p:txBody>
          <a:bodyPr anchor="b"/>
          <a:lstStyle/>
          <a:p>
            <a:endParaRPr lang="en-US"/>
          </a:p>
        </p:txBody>
      </p:sp>
      <p:sp>
        <p:nvSpPr>
          <p:cNvPr id="4" name="Oval 3">
            <a:extLst>
              <a:ext uri="{FF2B5EF4-FFF2-40B4-BE49-F238E27FC236}">
                <a16:creationId xmlns:a16="http://schemas.microsoft.com/office/drawing/2014/main"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904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4" name="Footer Placeholder 4">
            <a:extLst>
              <a:ext uri="{FF2B5EF4-FFF2-40B4-BE49-F238E27FC236}">
                <a16:creationId xmlns:a16="http://schemas.microsoft.com/office/drawing/2014/main" id="{4F0A24D4-6DA5-79FF-03B8-B42156C29A10}"/>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3" name="Date Placeholder 3">
            <a:extLst>
              <a:ext uri="{FF2B5EF4-FFF2-40B4-BE49-F238E27FC236}">
                <a16:creationId xmlns:a16="http://schemas.microsoft.com/office/drawing/2014/main" id="{95496777-32C7-B10A-B939-8EEC9C873F21}"/>
              </a:ext>
            </a:extLst>
          </p:cNvPr>
          <p:cNvSpPr>
            <a:spLocks noGrp="1"/>
          </p:cNvSpPr>
          <p:nvPr>
            <p:ph type="dt" sz="half" idx="10"/>
          </p:nvPr>
        </p:nvSpPr>
        <p:spPr>
          <a:xfrm>
            <a:off x="6190488" y="100701"/>
            <a:ext cx="2940449" cy="365125"/>
          </a:xfrm>
        </p:spPr>
        <p:txBody>
          <a:bodyPr/>
          <a:lstStyle/>
          <a:p>
            <a:endParaRPr lang="en-US"/>
          </a:p>
        </p:txBody>
      </p:sp>
      <p:sp>
        <p:nvSpPr>
          <p:cNvPr id="6" name="Slide Number Placeholder 5">
            <a:extLst>
              <a:ext uri="{FF2B5EF4-FFF2-40B4-BE49-F238E27FC236}">
                <a16:creationId xmlns:a16="http://schemas.microsoft.com/office/drawing/2014/main" id="{D33C2CAA-FD7B-3168-42A9-81A6AA4BC761}"/>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190488" y="969264"/>
            <a:ext cx="5340096"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9580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r>
              <a:rPr lang="en-US"/>
              <a:t>Sample footer text</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2270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97651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182458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268374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63264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82486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930579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2266531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3724324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6267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1189132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603830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149338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a:p>
          <a:p>
            <a:endParaRPr lang="en-US"/>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9823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7224019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32501324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4" y="621792"/>
            <a:ext cx="3528795" cy="1875965"/>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12351" y="603504"/>
            <a:ext cx="7215984" cy="5558959"/>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27B28364-BB1F-C92D-6EA6-E9AFEACC2D4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6" name="Date Placeholder 5">
            <a:extLst>
              <a:ext uri="{FF2B5EF4-FFF2-40B4-BE49-F238E27FC236}">
                <a16:creationId xmlns:a16="http://schemas.microsoft.com/office/drawing/2014/main" id="{3E4B54CF-3562-5862-E6DB-CEF1F22146EA}"/>
              </a:ext>
            </a:extLst>
          </p:cNvPr>
          <p:cNvSpPr>
            <a:spLocks noGrp="1"/>
          </p:cNvSpPr>
          <p:nvPr>
            <p:ph type="dt" sz="half" idx="15"/>
          </p:nvPr>
        </p:nvSpPr>
        <p:spPr>
          <a:xfrm>
            <a:off x="6190488" y="6432496"/>
            <a:ext cx="2544079" cy="365125"/>
          </a:xfrm>
        </p:spPr>
        <p:txBody>
          <a:bodyPr anchor="b"/>
          <a:lstStyle/>
          <a:p>
            <a:endParaRPr lang="en-US"/>
          </a:p>
        </p:txBody>
      </p:sp>
      <p:sp>
        <p:nvSpPr>
          <p:cNvPr id="9" name="Slide Number Placeholder 8">
            <a:extLst>
              <a:ext uri="{FF2B5EF4-FFF2-40B4-BE49-F238E27FC236}">
                <a16:creationId xmlns:a16="http://schemas.microsoft.com/office/drawing/2014/main" id="{BB780F23-567A-D56A-4657-9FE5DB9F1C69}"/>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2787477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r>
              <a:rPr lang="en-US"/>
              <a:t>Sample footer text</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a:p>
        </p:txBody>
      </p:sp>
    </p:spTree>
    <p:extLst>
      <p:ext uri="{BB962C8B-B14F-4D97-AF65-F5344CB8AC3E}">
        <p14:creationId xmlns:p14="http://schemas.microsoft.com/office/powerpoint/2010/main" val="1672768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362479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 y="1005840"/>
            <a:ext cx="3595634" cy="2212313"/>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69E2A0A4-E744-4E9C-CEAD-DBA5E98D44E8}"/>
              </a:ext>
            </a:extLst>
          </p:cNvPr>
          <p:cNvSpPr>
            <a:spLocks noGrp="1"/>
          </p:cNvSpPr>
          <p:nvPr>
            <p:ph type="ftr" sz="quarter" idx="11"/>
          </p:nvPr>
        </p:nvSpPr>
        <p:spPr>
          <a:xfrm>
            <a:off x="0" y="100701"/>
            <a:ext cx="4972050" cy="365125"/>
          </a:xfrm>
        </p:spPr>
        <p:txBody>
          <a:bodyPr/>
          <a:lstStyle/>
          <a:p>
            <a:r>
              <a:rPr lang="en-US"/>
              <a:t>Sample footer text</a:t>
            </a:r>
          </a:p>
        </p:txBody>
      </p:sp>
      <p:sp>
        <p:nvSpPr>
          <p:cNvPr id="8" name="Date Placeholder 3">
            <a:extLst>
              <a:ext uri="{FF2B5EF4-FFF2-40B4-BE49-F238E27FC236}">
                <a16:creationId xmlns:a16="http://schemas.microsoft.com/office/drawing/2014/main" id="{D44A2045-E098-ECF5-2867-D41D939BA049}"/>
              </a:ext>
            </a:extLst>
          </p:cNvPr>
          <p:cNvSpPr>
            <a:spLocks noGrp="1"/>
          </p:cNvSpPr>
          <p:nvPr>
            <p:ph type="dt" sz="half" idx="10"/>
          </p:nvPr>
        </p:nvSpPr>
        <p:spPr>
          <a:xfrm>
            <a:off x="5258952"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07F69DDF-E931-1763-53C0-B18D6D4EC1E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0" y="3402064"/>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510537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9185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a:t>Sample footer text</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a:p>
        </p:txBody>
      </p:sp>
    </p:spTree>
    <p:extLst>
      <p:ext uri="{BB962C8B-B14F-4D97-AF65-F5344CB8AC3E}">
        <p14:creationId xmlns:p14="http://schemas.microsoft.com/office/powerpoint/2010/main" val="1759652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0" y="5400504"/>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288" y="91440"/>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a:t>Click to add Quote</a:t>
            </a:r>
          </a:p>
        </p:txBody>
      </p:sp>
      <p:sp>
        <p:nvSpPr>
          <p:cNvPr id="8" name="Slide Number Placeholder 5">
            <a:extLst>
              <a:ext uri="{FF2B5EF4-FFF2-40B4-BE49-F238E27FC236}">
                <a16:creationId xmlns:a16="http://schemas.microsoft.com/office/drawing/2014/main" id="{3C6CA867-0594-FF63-2A8A-31E617CF8B81}"/>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9100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5" name="Footer Placeholder 4">
            <a:extLst>
              <a:ext uri="{FF2B5EF4-FFF2-40B4-BE49-F238E27FC236}">
                <a16:creationId xmlns:a16="http://schemas.microsoft.com/office/drawing/2014/main" id="{3E1BFC28-1FE6-202E-4C75-F59AA5769128}"/>
              </a:ext>
            </a:extLst>
          </p:cNvPr>
          <p:cNvSpPr>
            <a:spLocks noGrp="1"/>
          </p:cNvSpPr>
          <p:nvPr>
            <p:ph type="ftr" sz="quarter" idx="11"/>
          </p:nvPr>
        </p:nvSpPr>
        <p:spPr>
          <a:xfrm>
            <a:off x="0" y="100701"/>
            <a:ext cx="5898630" cy="365125"/>
          </a:xfrm>
        </p:spPr>
        <p:txBody>
          <a:bodyPr/>
          <a:lstStyle/>
          <a:p>
            <a:r>
              <a:rPr lang="en-US"/>
              <a:t>Sample footer text</a:t>
            </a:r>
          </a:p>
        </p:txBody>
      </p:sp>
      <p:sp>
        <p:nvSpPr>
          <p:cNvPr id="4" name="Date Placeholder 3">
            <a:extLst>
              <a:ext uri="{FF2B5EF4-FFF2-40B4-BE49-F238E27FC236}">
                <a16:creationId xmlns:a16="http://schemas.microsoft.com/office/drawing/2014/main" id="{45652F0F-1439-960F-9C3A-9343AACF5CF7}"/>
              </a:ext>
            </a:extLst>
          </p:cNvPr>
          <p:cNvSpPr>
            <a:spLocks noGrp="1"/>
          </p:cNvSpPr>
          <p:nvPr>
            <p:ph type="dt" sz="half" idx="10"/>
          </p:nvPr>
        </p:nvSpPr>
        <p:spPr>
          <a:xfrm>
            <a:off x="6217920" y="100701"/>
            <a:ext cx="5332001" cy="365125"/>
          </a:xfrm>
        </p:spPr>
        <p:txBody>
          <a:bodyPr/>
          <a:lstStyle/>
          <a:p>
            <a:endParaRPr lang="en-US"/>
          </a:p>
        </p:txBody>
      </p:sp>
      <p:sp>
        <p:nvSpPr>
          <p:cNvPr id="6" name="Slide Number Placeholder 5">
            <a:extLst>
              <a:ext uri="{FF2B5EF4-FFF2-40B4-BE49-F238E27FC236}">
                <a16:creationId xmlns:a16="http://schemas.microsoft.com/office/drawing/2014/main" id="{25272698-4711-8849-0363-3DFE78138D32}"/>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2871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r>
              <a:rPr lang="en-US"/>
              <a:t>Sample footer text</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7850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0" y="1005840"/>
            <a:ext cx="4387515" cy="2266749"/>
          </a:xfrm>
        </p:spPr>
        <p:txBody>
          <a:bodyPr anchor="t">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3BF49C86-6C0C-1FF8-95FA-97DFDF9DAFB3}"/>
              </a:ext>
            </a:extLst>
          </p:cNvPr>
          <p:cNvSpPr>
            <a:spLocks noGrp="1"/>
          </p:cNvSpPr>
          <p:nvPr>
            <p:ph type="ftr" sz="quarter" idx="11"/>
          </p:nvPr>
        </p:nvSpPr>
        <p:spPr>
          <a:xfrm>
            <a:off x="0" y="100701"/>
            <a:ext cx="5898630" cy="365125"/>
          </a:xfrm>
        </p:spPr>
        <p:txBody>
          <a:bodyPr/>
          <a:lstStyle/>
          <a:p>
            <a:r>
              <a:rPr lang="en-US"/>
              <a:t>Sample footer text</a:t>
            </a:r>
          </a:p>
        </p:txBody>
      </p:sp>
      <p:sp>
        <p:nvSpPr>
          <p:cNvPr id="8" name="Date Placeholder 3">
            <a:extLst>
              <a:ext uri="{FF2B5EF4-FFF2-40B4-BE49-F238E27FC236}">
                <a16:creationId xmlns:a16="http://schemas.microsoft.com/office/drawing/2014/main" id="{967C0644-E9CA-553A-9682-88BC00D2C9A7}"/>
              </a:ext>
            </a:extLst>
          </p:cNvPr>
          <p:cNvSpPr>
            <a:spLocks noGrp="1"/>
          </p:cNvSpPr>
          <p:nvPr>
            <p:ph type="dt" sz="half" idx="10"/>
          </p:nvPr>
        </p:nvSpPr>
        <p:spPr>
          <a:xfrm>
            <a:off x="6217920" y="100701"/>
            <a:ext cx="5332001" cy="365125"/>
          </a:xfrm>
        </p:spPr>
        <p:txBody>
          <a:bodyPr/>
          <a:lstStyle/>
          <a:p>
            <a:endParaRPr lang="en-US"/>
          </a:p>
        </p:txBody>
      </p:sp>
      <p:sp>
        <p:nvSpPr>
          <p:cNvPr id="10" name="Slide Number Placeholder 5">
            <a:extLst>
              <a:ext uri="{FF2B5EF4-FFF2-40B4-BE49-F238E27FC236}">
                <a16:creationId xmlns:a16="http://schemas.microsoft.com/office/drawing/2014/main" id="{671DEEC6-473A-E958-E22B-4390511AE15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 y="3951334"/>
            <a:ext cx="4387515" cy="2809615"/>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84821" y="1005840"/>
            <a:ext cx="7217472"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56749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r>
              <a:rPr lang="en-US"/>
              <a:t>Sample footer text</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r>
              <a:rPr lang="en-US"/>
              <a:t>Sample footer text</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4" r:id="rId3"/>
    <p:sldLayoutId id="2147483785" r:id="rId4"/>
    <p:sldLayoutId id="2147483831" r:id="rId5"/>
    <p:sldLayoutId id="2147483783" r:id="rId6"/>
    <p:sldLayoutId id="2147483786" r:id="rId7"/>
    <p:sldLayoutId id="2147483787" r:id="rId8"/>
    <p:sldLayoutId id="2147483788" r:id="rId9"/>
    <p:sldLayoutId id="2147483789" r:id="rId10"/>
    <p:sldLayoutId id="2147483853" r:id="rId11"/>
    <p:sldLayoutId id="2147483858" r:id="rId12"/>
    <p:sldLayoutId id="2147483790" r:id="rId13"/>
    <p:sldLayoutId id="2147483838" r:id="rId14"/>
    <p:sldLayoutId id="2147483791" r:id="rId15"/>
    <p:sldLayoutId id="2147483839"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8" r:id="rId32"/>
    <p:sldLayoutId id="2147483809" r:id="rId33"/>
    <p:sldLayoutId id="2147483810" r:id="rId34"/>
    <p:sldLayoutId id="2147483811" r:id="rId35"/>
    <p:sldLayoutId id="2147483812" r:id="rId36"/>
    <p:sldLayoutId id="2147483813" r:id="rId37"/>
    <p:sldLayoutId id="2147483855" r:id="rId38"/>
    <p:sldLayoutId id="2147483841" r:id="rId39"/>
    <p:sldLayoutId id="2147483842" r:id="rId40"/>
    <p:sldLayoutId id="2147483828" r:id="rId41"/>
    <p:sldLayoutId id="2147483814" r:id="rId42"/>
    <p:sldLayoutId id="2147483815" r:id="rId43"/>
    <p:sldLayoutId id="2147483816" r:id="rId44"/>
    <p:sldLayoutId id="2147483844" r:id="rId45"/>
    <p:sldLayoutId id="2147483817" r:id="rId46"/>
    <p:sldLayoutId id="2147483818" r:id="rId47"/>
    <p:sldLayoutId id="2147483819" r:id="rId48"/>
    <p:sldLayoutId id="2147483820" r:id="rId49"/>
    <p:sldLayoutId id="2147483821" r:id="rId50"/>
    <p:sldLayoutId id="2147483822" r:id="rId51"/>
    <p:sldLayoutId id="2147483847" r:id="rId52"/>
    <p:sldLayoutId id="2147483848" r:id="rId53"/>
    <p:sldLayoutId id="2147483825" r:id="rId54"/>
    <p:sldLayoutId id="2147483826" r:id="rId55"/>
    <p:sldLayoutId id="2147483827" r:id="rId56"/>
    <p:sldLayoutId id="2147483850" r:id="rId57"/>
    <p:sldLayoutId id="2147483829" r:id="rId58"/>
    <p:sldLayoutId id="2147483830" r:id="rId59"/>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www.raosoft.com/samplesize.html" TargetMode="External"/><Relationship Id="rId2" Type="http://schemas.openxmlformats.org/officeDocument/2006/relationships/notesSlide" Target="../notesSlides/notesSlide10.xml"/><Relationship Id="rId1" Type="http://schemas.openxmlformats.org/officeDocument/2006/relationships/slideLayout" Target="../slideLayouts/slideLayout41.xml"/><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7D4F854-90D3-8A63-771A-5A981FA9CA6F}"/>
              </a:ext>
            </a:extLst>
          </p:cNvPr>
          <p:cNvSpPr>
            <a:spLocks noGrp="1"/>
          </p:cNvSpPr>
          <p:nvPr>
            <p:ph type="subTitle" idx="1"/>
          </p:nvPr>
        </p:nvSpPr>
        <p:spPr>
          <a:xfrm>
            <a:off x="0" y="4752658"/>
            <a:ext cx="5906125" cy="2079019"/>
          </a:xfrm>
        </p:spPr>
        <p:txBody>
          <a:bodyPr anchor="b">
            <a:normAutofit/>
          </a:bodyPr>
          <a:lstStyle/>
          <a:p>
            <a:r>
              <a:rPr lang="en-US"/>
              <a:t>Techniques and considerations for research data collection</a:t>
            </a:r>
          </a:p>
        </p:txBody>
      </p:sp>
      <p:sp>
        <p:nvSpPr>
          <p:cNvPr id="4" name="Title 3">
            <a:extLst>
              <a:ext uri="{FF2B5EF4-FFF2-40B4-BE49-F238E27FC236}">
                <a16:creationId xmlns:a16="http://schemas.microsoft.com/office/drawing/2014/main" id="{E457A255-4ACE-44E0-D96D-3DB760848313}"/>
              </a:ext>
            </a:extLst>
          </p:cNvPr>
          <p:cNvSpPr>
            <a:spLocks noGrp="1"/>
          </p:cNvSpPr>
          <p:nvPr>
            <p:ph type="title"/>
          </p:nvPr>
        </p:nvSpPr>
        <p:spPr>
          <a:xfrm>
            <a:off x="-18288" y="653544"/>
            <a:ext cx="8165592" cy="3694176"/>
          </a:xfrm>
        </p:spPr>
        <p:txBody>
          <a:bodyPr anchor="t">
            <a:normAutofit/>
          </a:bodyPr>
          <a:lstStyle/>
          <a:p>
            <a:r>
              <a:rPr lang="en-US"/>
              <a:t>Sampling Methods and Sample Size</a:t>
            </a:r>
          </a:p>
        </p:txBody>
      </p:sp>
    </p:spTree>
    <p:extLst>
      <p:ext uri="{BB962C8B-B14F-4D97-AF65-F5344CB8AC3E}">
        <p14:creationId xmlns:p14="http://schemas.microsoft.com/office/powerpoint/2010/main" val="36945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700"/>
                                        <p:tgtEl>
                                          <p:spTgt spid="2">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B9421F-A9D7-6CD9-3378-49C1C7AD4122}"/>
              </a:ext>
            </a:extLst>
          </p:cNvPr>
          <p:cNvSpPr>
            <a:spLocks noGrp="1"/>
          </p:cNvSpPr>
          <p:nvPr>
            <p:ph type="title"/>
          </p:nvPr>
        </p:nvSpPr>
        <p:spPr>
          <a:xfrm>
            <a:off x="0" y="2139696"/>
            <a:ext cx="8071011" cy="4718304"/>
          </a:xfrm>
        </p:spPr>
        <p:txBody>
          <a:bodyPr anchor="b">
            <a:normAutofit/>
          </a:bodyPr>
          <a:lstStyle/>
          <a:p>
            <a:r>
              <a:rPr lang="en-US"/>
              <a:t>Introduction to Sampling</a:t>
            </a:r>
          </a:p>
        </p:txBody>
      </p:sp>
    </p:spTree>
    <p:extLst>
      <p:ext uri="{BB962C8B-B14F-4D97-AF65-F5344CB8AC3E}">
        <p14:creationId xmlns:p14="http://schemas.microsoft.com/office/powerpoint/2010/main" val="1892165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35EF9-02A1-5061-3CED-A2A74C161D29}"/>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What is Sampling?</a:t>
            </a:r>
          </a:p>
        </p:txBody>
      </p:sp>
      <p:pic>
        <p:nvPicPr>
          <p:cNvPr id="4" name="Content Placeholder 3" descr="People Search">
            <a:extLst>
              <a:ext uri="{FF2B5EF4-FFF2-40B4-BE49-F238E27FC236}">
                <a16:creationId xmlns:a16="http://schemas.microsoft.com/office/drawing/2014/main" id="{74941DCF-62C5-43DB-B9A9-90674BA20126}"/>
              </a:ext>
            </a:extLst>
          </p:cNvPr>
          <p:cNvPicPr>
            <a:picLocks noGrp="1" noChangeAspect="1"/>
          </p:cNvPicPr>
          <p:nvPr>
            <p:ph type="pic" sz="quarter" idx="13"/>
          </p:nvPr>
        </p:nvPicPr>
        <p:blipFill>
          <a:blip r:embed="rId3"/>
          <a:srcRect l="42624" r="18216" b="-2"/>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7524EE6E-A52B-431F-AD67-B2316B748CE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Definition of Sampling</a:t>
            </a:r>
          </a:p>
          <a:p>
            <a:pPr marL="0" lvl="1" indent="0">
              <a:lnSpc>
                <a:spcPct val="90000"/>
              </a:lnSpc>
              <a:spcBef>
                <a:spcPts val="1000"/>
              </a:spcBef>
              <a:spcAft>
                <a:spcPts val="600"/>
              </a:spcAft>
              <a:buNone/>
            </a:pPr>
            <a:r>
              <a:rPr lang="en-US" sz="1200"/>
              <a:t>Sampling selects a subset from a larger population to make broader inferences about the whole group.</a:t>
            </a:r>
          </a:p>
          <a:p>
            <a:pPr marL="0" indent="0">
              <a:lnSpc>
                <a:spcPct val="90000"/>
              </a:lnSpc>
              <a:spcBef>
                <a:spcPts val="2500"/>
              </a:spcBef>
              <a:spcAft>
                <a:spcPts val="600"/>
              </a:spcAft>
              <a:buNone/>
            </a:pPr>
            <a:r>
              <a:rPr lang="en-US" sz="1200" b="1"/>
              <a:t>Purpose and Benefits</a:t>
            </a:r>
          </a:p>
          <a:p>
            <a:pPr marL="0" lvl="1" indent="0">
              <a:lnSpc>
                <a:spcPct val="90000"/>
              </a:lnSpc>
              <a:spcBef>
                <a:spcPts val="1000"/>
              </a:spcBef>
              <a:spcAft>
                <a:spcPts val="600"/>
              </a:spcAft>
              <a:buNone/>
            </a:pPr>
            <a:r>
              <a:rPr lang="en-US" sz="1200"/>
              <a:t>Sampling reduces cost and time by avoiding the need to study every population member in research.</a:t>
            </a:r>
          </a:p>
          <a:p>
            <a:pPr marL="0" indent="0">
              <a:lnSpc>
                <a:spcPct val="90000"/>
              </a:lnSpc>
              <a:spcBef>
                <a:spcPts val="2500"/>
              </a:spcBef>
              <a:spcAft>
                <a:spcPts val="600"/>
              </a:spcAft>
              <a:buNone/>
            </a:pPr>
            <a:r>
              <a:rPr lang="en-US" sz="1200" b="1"/>
              <a:t>Applications Across Fields</a:t>
            </a:r>
          </a:p>
          <a:p>
            <a:pPr marL="0" lvl="1" indent="0">
              <a:lnSpc>
                <a:spcPct val="90000"/>
              </a:lnSpc>
              <a:spcBef>
                <a:spcPts val="1000"/>
              </a:spcBef>
              <a:spcAft>
                <a:spcPts val="600"/>
              </a:spcAft>
              <a:buNone/>
            </a:pPr>
            <a:r>
              <a:rPr lang="en-US" sz="1200"/>
              <a:t>Sampling is widely used in market research, public health, and social sciences for drawing conclusions.</a:t>
            </a:r>
          </a:p>
          <a:p>
            <a:pPr marL="0" indent="0">
              <a:lnSpc>
                <a:spcPct val="90000"/>
              </a:lnSpc>
              <a:spcBef>
                <a:spcPts val="2500"/>
              </a:spcBef>
              <a:spcAft>
                <a:spcPts val="600"/>
              </a:spcAft>
              <a:buNone/>
            </a:pPr>
            <a:r>
              <a:rPr lang="en-US" sz="1200" b="1"/>
              <a:t>Ensuring Representativeness</a:t>
            </a:r>
          </a:p>
          <a:p>
            <a:pPr marL="0" lvl="1" indent="0">
              <a:lnSpc>
                <a:spcPct val="90000"/>
              </a:lnSpc>
              <a:spcBef>
                <a:spcPts val="1000"/>
              </a:spcBef>
              <a:spcAft>
                <a:spcPts val="600"/>
              </a:spcAft>
              <a:buNone/>
            </a:pPr>
            <a:r>
              <a:rPr lang="en-US" sz="1200"/>
              <a:t>Careful sample selection ensures findings are reliable and generalizable to the entire population.</a:t>
            </a:r>
          </a:p>
        </p:txBody>
      </p:sp>
    </p:spTree>
    <p:extLst>
      <p:ext uri="{BB962C8B-B14F-4D97-AF65-F5344CB8AC3E}">
        <p14:creationId xmlns:p14="http://schemas.microsoft.com/office/powerpoint/2010/main" val="1602663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D1B32-66D5-9950-02D1-68378C01CED2}"/>
              </a:ext>
            </a:extLst>
          </p:cNvPr>
          <p:cNvSpPr>
            <a:spLocks noGrp="1"/>
          </p:cNvSpPr>
          <p:nvPr>
            <p:ph type="title"/>
          </p:nvPr>
        </p:nvSpPr>
        <p:spPr>
          <a:xfrm>
            <a:off x="0" y="2139696"/>
            <a:ext cx="8071011" cy="4718304"/>
          </a:xfrm>
        </p:spPr>
        <p:txBody>
          <a:bodyPr anchor="b">
            <a:normAutofit/>
          </a:bodyPr>
          <a:lstStyle/>
          <a:p>
            <a:r>
              <a:rPr lang="en-US"/>
              <a:t>Types of Sampling Methods</a:t>
            </a:r>
          </a:p>
        </p:txBody>
      </p:sp>
    </p:spTree>
    <p:extLst>
      <p:ext uri="{BB962C8B-B14F-4D97-AF65-F5344CB8AC3E}">
        <p14:creationId xmlns:p14="http://schemas.microsoft.com/office/powerpoint/2010/main" val="1710887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0E9B-035D-0A0F-9C20-F64AA461B349}"/>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b="0" i="0" kern="1200" spc="-200" baseline="0">
                <a:latin typeface="+mj-lt"/>
                <a:ea typeface="+mj-ea"/>
                <a:cs typeface="+mj-cs"/>
              </a:rPr>
              <a:t>Simple Random Sampling</a:t>
            </a:r>
          </a:p>
        </p:txBody>
      </p:sp>
      <p:sp>
        <p:nvSpPr>
          <p:cNvPr id="5" name="TextBox 4">
            <a:extLst>
              <a:ext uri="{FF2B5EF4-FFF2-40B4-BE49-F238E27FC236}">
                <a16:creationId xmlns:a16="http://schemas.microsoft.com/office/drawing/2014/main" id="{D20F824C-ADC6-480D-A2D1-3EFAF7B8B6E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lIns="91440" tIns="45720" rIns="91440" bIns="45720" anchor="t">
            <a:normAutofit/>
          </a:bodyPr>
          <a:lstStyle/>
          <a:p>
            <a:pPr marL="0" indent="0">
              <a:lnSpc>
                <a:spcPct val="90000"/>
              </a:lnSpc>
              <a:spcBef>
                <a:spcPts val="2500"/>
              </a:spcBef>
              <a:spcAft>
                <a:spcPts val="600"/>
              </a:spcAft>
              <a:buNone/>
            </a:pPr>
            <a:r>
              <a:rPr lang="en-US" sz="1100" b="1"/>
              <a:t>Equal Chance Selection</a:t>
            </a:r>
          </a:p>
          <a:p>
            <a:pPr marL="0" lvl="1" indent="0">
              <a:lnSpc>
                <a:spcPct val="90000"/>
              </a:lnSpc>
              <a:spcBef>
                <a:spcPts val="1000"/>
              </a:spcBef>
              <a:spcAft>
                <a:spcPts val="600"/>
              </a:spcAft>
              <a:buNone/>
            </a:pPr>
            <a:r>
              <a:rPr lang="en-US" sz="1100"/>
              <a:t>Every individual in the population has an equal chance of being selected, minimizing bias in the sample.</a:t>
            </a:r>
          </a:p>
          <a:p>
            <a:pPr marL="0" indent="0">
              <a:lnSpc>
                <a:spcPct val="90000"/>
              </a:lnSpc>
              <a:spcBef>
                <a:spcPts val="2500"/>
              </a:spcBef>
              <a:spcAft>
                <a:spcPts val="600"/>
              </a:spcAft>
              <a:buNone/>
            </a:pPr>
            <a:r>
              <a:rPr lang="en-US" sz="1100" b="1"/>
              <a:t>Implementation in Python</a:t>
            </a:r>
          </a:p>
          <a:p>
            <a:pPr marL="0" lvl="1">
              <a:lnSpc>
                <a:spcPct val="90000"/>
              </a:lnSpc>
              <a:spcBef>
                <a:spcPts val="1000"/>
              </a:spcBef>
              <a:spcAft>
                <a:spcPts val="600"/>
              </a:spcAft>
            </a:pPr>
            <a:r>
              <a:rPr lang="en-US" sz="1100"/>
              <a:t>The random sample function in Python is used to select a specified number of items randomly from a dataset.</a:t>
            </a:r>
          </a:p>
          <a:p>
            <a:pPr marL="0" indent="0">
              <a:lnSpc>
                <a:spcPct val="90000"/>
              </a:lnSpc>
              <a:spcBef>
                <a:spcPts val="2500"/>
              </a:spcBef>
              <a:spcAft>
                <a:spcPts val="600"/>
              </a:spcAft>
              <a:buNone/>
            </a:pPr>
            <a:r>
              <a:rPr lang="en-US" sz="1100" b="1"/>
              <a:t>Limitations in Subgroup Representation</a:t>
            </a:r>
          </a:p>
          <a:p>
            <a:pPr marL="0" lvl="1" indent="0">
              <a:lnSpc>
                <a:spcPct val="90000"/>
              </a:lnSpc>
              <a:spcBef>
                <a:spcPts val="1000"/>
              </a:spcBef>
              <a:spcAft>
                <a:spcPts val="600"/>
              </a:spcAft>
              <a:buNone/>
            </a:pPr>
            <a:r>
              <a:rPr lang="en-US" sz="1100"/>
              <a:t>Simple random sampling may not guarantee representation of all subgroups, especially with small samples.</a:t>
            </a:r>
          </a:p>
        </p:txBody>
      </p:sp>
      <p:pic>
        <p:nvPicPr>
          <p:cNvPr id="4" name="Content Placeholder 3" descr="Yellow lemons in a row on blu background, one green lemon out of the row, aerial view.">
            <a:extLst>
              <a:ext uri="{FF2B5EF4-FFF2-40B4-BE49-F238E27FC236}">
                <a16:creationId xmlns:a16="http://schemas.microsoft.com/office/drawing/2014/main" id="{1F2FD92E-278F-412A-A350-A5CBD6E18082}"/>
              </a:ext>
            </a:extLst>
          </p:cNvPr>
          <p:cNvPicPr>
            <a:picLocks noGrp="1" noChangeAspect="1"/>
          </p:cNvPicPr>
          <p:nvPr>
            <p:ph type="pic" idx="1"/>
          </p:nvPr>
        </p:nvPicPr>
        <p:blipFill>
          <a:blip r:embed="rId3"/>
          <a:srcRect r="1" b="11781"/>
          <a:stretch>
            <a:fillRect/>
          </a:stretch>
        </p:blipFill>
        <p:spPr>
          <a:xfrm>
            <a:off x="5366157" y="832104"/>
            <a:ext cx="6707160" cy="5917042"/>
          </a:xfrm>
          <a:prstGeom prst="rect">
            <a:avLst/>
          </a:prstGeom>
          <a:noFill/>
        </p:spPr>
      </p:pic>
    </p:spTree>
    <p:extLst>
      <p:ext uri="{BB962C8B-B14F-4D97-AF65-F5344CB8AC3E}">
        <p14:creationId xmlns:p14="http://schemas.microsoft.com/office/powerpoint/2010/main" val="4059358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69115-BDCD-4891-D2BD-496F365F53A2}"/>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Stratified Sampling</a:t>
            </a:r>
          </a:p>
        </p:txBody>
      </p:sp>
      <p:pic>
        <p:nvPicPr>
          <p:cNvPr id="4" name="Content Placeholder 3" descr="Colourful carved figures of humans">
            <a:extLst>
              <a:ext uri="{FF2B5EF4-FFF2-40B4-BE49-F238E27FC236}">
                <a16:creationId xmlns:a16="http://schemas.microsoft.com/office/drawing/2014/main" id="{C8C8CEBA-909B-4E2E-A8CE-4C33154E5491}"/>
              </a:ext>
            </a:extLst>
          </p:cNvPr>
          <p:cNvPicPr>
            <a:picLocks noGrp="1" noChangeAspect="1"/>
          </p:cNvPicPr>
          <p:nvPr>
            <p:ph type="pic" sz="quarter" idx="13"/>
          </p:nvPr>
        </p:nvPicPr>
        <p:blipFill>
          <a:blip r:embed="rId3"/>
          <a:srcRect l="29291" r="28908" b="-1"/>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25134BDA-126E-41B1-A81D-388B2CCE7CB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Dividing Population into Strata</a:t>
            </a:r>
          </a:p>
          <a:p>
            <a:pPr marL="0" lvl="1" indent="0">
              <a:lnSpc>
                <a:spcPct val="90000"/>
              </a:lnSpc>
              <a:spcBef>
                <a:spcPts val="1000"/>
              </a:spcBef>
              <a:spcAft>
                <a:spcPts val="600"/>
              </a:spcAft>
              <a:buNone/>
            </a:pPr>
            <a:r>
              <a:rPr lang="en-US" sz="1200"/>
              <a:t>Stratified sampling divides populations into distinct subgroups like age, gender, or region for representative sampling.</a:t>
            </a:r>
          </a:p>
          <a:p>
            <a:pPr marL="0" indent="0">
              <a:lnSpc>
                <a:spcPct val="90000"/>
              </a:lnSpc>
              <a:spcBef>
                <a:spcPts val="2500"/>
              </a:spcBef>
              <a:spcAft>
                <a:spcPts val="600"/>
              </a:spcAft>
              <a:buNone/>
            </a:pPr>
            <a:r>
              <a:rPr lang="en-US" sz="1200" b="1"/>
              <a:t>Proportional Sampling</a:t>
            </a:r>
          </a:p>
          <a:p>
            <a:pPr marL="0" lvl="1" indent="0">
              <a:lnSpc>
                <a:spcPct val="90000"/>
              </a:lnSpc>
              <a:spcBef>
                <a:spcPts val="1000"/>
              </a:spcBef>
              <a:spcAft>
                <a:spcPts val="600"/>
              </a:spcAft>
              <a:buNone/>
            </a:pPr>
            <a:r>
              <a:rPr lang="en-US" sz="1200"/>
              <a:t>Samples are drawn proportionally from each stratum to ensure all subgroups are adequately represented.</a:t>
            </a:r>
          </a:p>
          <a:p>
            <a:pPr marL="0" indent="0">
              <a:lnSpc>
                <a:spcPct val="90000"/>
              </a:lnSpc>
              <a:spcBef>
                <a:spcPts val="2500"/>
              </a:spcBef>
              <a:spcAft>
                <a:spcPts val="600"/>
              </a:spcAft>
              <a:buNone/>
            </a:pPr>
            <a:r>
              <a:rPr lang="en-US" sz="1200" b="1"/>
              <a:t>Application in Python</a:t>
            </a:r>
          </a:p>
          <a:p>
            <a:pPr marL="0" lvl="1" indent="0">
              <a:lnSpc>
                <a:spcPct val="90000"/>
              </a:lnSpc>
              <a:spcBef>
                <a:spcPts val="1000"/>
              </a:spcBef>
              <a:spcAft>
                <a:spcPts val="600"/>
              </a:spcAft>
              <a:buNone/>
            </a:pPr>
            <a:r>
              <a:rPr lang="en-US" sz="1200"/>
              <a:t>Python’s groupby and apply functions enable stratified sampling by sampling fractions from each group.</a:t>
            </a:r>
          </a:p>
          <a:p>
            <a:pPr marL="0" indent="0">
              <a:lnSpc>
                <a:spcPct val="90000"/>
              </a:lnSpc>
              <a:spcBef>
                <a:spcPts val="2500"/>
              </a:spcBef>
              <a:spcAft>
                <a:spcPts val="600"/>
              </a:spcAft>
              <a:buNone/>
            </a:pPr>
            <a:r>
              <a:rPr lang="en-US" sz="1200" b="1"/>
              <a:t>Benefits of Stratified Sampling</a:t>
            </a:r>
          </a:p>
          <a:p>
            <a:pPr marL="0" lvl="1" indent="0">
              <a:lnSpc>
                <a:spcPct val="90000"/>
              </a:lnSpc>
              <a:spcBef>
                <a:spcPts val="1000"/>
              </a:spcBef>
              <a:spcAft>
                <a:spcPts val="600"/>
              </a:spcAft>
              <a:buNone/>
            </a:pPr>
            <a:r>
              <a:rPr lang="en-US" sz="1200"/>
              <a:t>This method improves accuracy and precision, especially in heterogeneous populations with varied subgroup characteristics.</a:t>
            </a:r>
          </a:p>
        </p:txBody>
      </p:sp>
    </p:spTree>
    <p:extLst>
      <p:ext uri="{BB962C8B-B14F-4D97-AF65-F5344CB8AC3E}">
        <p14:creationId xmlns:p14="http://schemas.microsoft.com/office/powerpoint/2010/main" val="3799983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AA555-7800-F4E1-006C-D86EAF8397A4}"/>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Systematic Sampling</a:t>
            </a:r>
          </a:p>
        </p:txBody>
      </p:sp>
      <p:pic>
        <p:nvPicPr>
          <p:cNvPr id="4" name="Content Placeholder 3" descr="Finance and stock market data.">
            <a:extLst>
              <a:ext uri="{FF2B5EF4-FFF2-40B4-BE49-F238E27FC236}">
                <a16:creationId xmlns:a16="http://schemas.microsoft.com/office/drawing/2014/main" id="{A44C2E6E-B43F-4C58-B823-BE6CC5707982}"/>
              </a:ext>
            </a:extLst>
          </p:cNvPr>
          <p:cNvPicPr>
            <a:picLocks noGrp="1" noChangeAspect="1"/>
          </p:cNvPicPr>
          <p:nvPr>
            <p:ph type="pic" sz="quarter" idx="13"/>
          </p:nvPr>
        </p:nvPicPr>
        <p:blipFill>
          <a:blip r:embed="rId3"/>
          <a:srcRect l="37442" r="23397" b="-2"/>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E48CE4C3-C369-4E5E-A7BF-7B11B823C1D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Sampling Method Overview</a:t>
            </a:r>
          </a:p>
          <a:p>
            <a:pPr marL="0" lvl="1" indent="0">
              <a:lnSpc>
                <a:spcPct val="90000"/>
              </a:lnSpc>
              <a:spcBef>
                <a:spcPts val="1000"/>
              </a:spcBef>
              <a:spcAft>
                <a:spcPts val="600"/>
              </a:spcAft>
              <a:buNone/>
            </a:pPr>
            <a:r>
              <a:rPr lang="en-US" sz="1200"/>
              <a:t>Systematic sampling selects every k-th individual after a random start, ensuring coverage across the population.</a:t>
            </a:r>
          </a:p>
          <a:p>
            <a:pPr marL="0" indent="0">
              <a:lnSpc>
                <a:spcPct val="90000"/>
              </a:lnSpc>
              <a:spcBef>
                <a:spcPts val="2500"/>
              </a:spcBef>
              <a:spcAft>
                <a:spcPts val="600"/>
              </a:spcAft>
              <a:buNone/>
            </a:pPr>
            <a:r>
              <a:rPr lang="en-US" sz="1200" b="1"/>
              <a:t>Python Implementation</a:t>
            </a:r>
          </a:p>
          <a:p>
            <a:pPr marL="0" lvl="1" indent="0">
              <a:lnSpc>
                <a:spcPct val="90000"/>
              </a:lnSpc>
              <a:spcBef>
                <a:spcPts val="1000"/>
              </a:spcBef>
              <a:spcAft>
                <a:spcPts val="600"/>
              </a:spcAft>
              <a:buNone/>
            </a:pPr>
            <a:r>
              <a:rPr lang="en-US" sz="1200"/>
              <a:t>In Python, systematic sampling can be implemented efficiently using slicing syntax like data[::k].</a:t>
            </a:r>
          </a:p>
          <a:p>
            <a:pPr marL="0" indent="0">
              <a:lnSpc>
                <a:spcPct val="90000"/>
              </a:lnSpc>
              <a:spcBef>
                <a:spcPts val="2500"/>
              </a:spcBef>
              <a:spcAft>
                <a:spcPts val="600"/>
              </a:spcAft>
              <a:buNone/>
            </a:pPr>
            <a:r>
              <a:rPr lang="en-US" sz="1200" b="1"/>
              <a:t>Potential Bias Issues</a:t>
            </a:r>
          </a:p>
          <a:p>
            <a:pPr marL="0" lvl="1" indent="0">
              <a:lnSpc>
                <a:spcPct val="90000"/>
              </a:lnSpc>
              <a:spcBef>
                <a:spcPts val="1000"/>
              </a:spcBef>
              <a:spcAft>
                <a:spcPts val="600"/>
              </a:spcAft>
              <a:buNone/>
            </a:pPr>
            <a:r>
              <a:rPr lang="en-US" sz="1200"/>
              <a:t>Systematic sampling may cause bias if data has periodic patterns aligning with the sampling interval.</a:t>
            </a:r>
          </a:p>
          <a:p>
            <a:pPr marL="0" indent="0">
              <a:lnSpc>
                <a:spcPct val="90000"/>
              </a:lnSpc>
              <a:spcBef>
                <a:spcPts val="2500"/>
              </a:spcBef>
              <a:spcAft>
                <a:spcPts val="600"/>
              </a:spcAft>
              <a:buNone/>
            </a:pPr>
            <a:r>
              <a:rPr lang="en-US" sz="1200" b="1"/>
              <a:t>Practical Applications</a:t>
            </a:r>
          </a:p>
          <a:p>
            <a:pPr marL="0" lvl="1" indent="0">
              <a:lnSpc>
                <a:spcPct val="90000"/>
              </a:lnSpc>
              <a:spcBef>
                <a:spcPts val="1000"/>
              </a:spcBef>
              <a:spcAft>
                <a:spcPts val="600"/>
              </a:spcAft>
              <a:buNone/>
            </a:pPr>
            <a:r>
              <a:rPr lang="en-US" sz="1200"/>
              <a:t>Widely used in quality control and industry for its simplicity, speed, and good approximation of random sampling.</a:t>
            </a:r>
          </a:p>
        </p:txBody>
      </p:sp>
    </p:spTree>
    <p:extLst>
      <p:ext uri="{BB962C8B-B14F-4D97-AF65-F5344CB8AC3E}">
        <p14:creationId xmlns:p14="http://schemas.microsoft.com/office/powerpoint/2010/main" val="238767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B89C7-42C8-8989-D57E-520804873175}"/>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b="0" i="0" kern="1200" spc="-200" baseline="0">
                <a:latin typeface="+mj-lt"/>
                <a:ea typeface="+mj-ea"/>
                <a:cs typeface="+mj-cs"/>
              </a:rPr>
              <a:t>Cluster Sampling</a:t>
            </a:r>
          </a:p>
        </p:txBody>
      </p:sp>
      <p:pic>
        <p:nvPicPr>
          <p:cNvPr id="4" name="Content Placeholder 3" descr="social network">
            <a:extLst>
              <a:ext uri="{FF2B5EF4-FFF2-40B4-BE49-F238E27FC236}">
                <a16:creationId xmlns:a16="http://schemas.microsoft.com/office/drawing/2014/main" id="{8F8EB085-84F3-4375-8ECC-25599152F596}"/>
              </a:ext>
            </a:extLst>
          </p:cNvPr>
          <p:cNvPicPr>
            <a:picLocks noGrp="1" noChangeAspect="1"/>
          </p:cNvPicPr>
          <p:nvPr>
            <p:ph type="pic" sz="quarter" idx="13"/>
          </p:nvPr>
        </p:nvPicPr>
        <p:blipFill>
          <a:blip r:embed="rId3"/>
          <a:srcRect l="29116" r="31724" b="-2"/>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427488C9-8CF5-4E3A-AEE1-E08C3AF5B31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Definition and Process</a:t>
            </a:r>
          </a:p>
          <a:p>
            <a:pPr marL="0" lvl="1" indent="0">
              <a:lnSpc>
                <a:spcPct val="90000"/>
              </a:lnSpc>
              <a:spcBef>
                <a:spcPts val="1000"/>
              </a:spcBef>
              <a:spcAft>
                <a:spcPts val="600"/>
              </a:spcAft>
              <a:buNone/>
            </a:pPr>
            <a:r>
              <a:rPr lang="en-US" sz="1200"/>
              <a:t>Cluster sampling divides the population into clusters and randomly selects entire clusters for the study.</a:t>
            </a:r>
          </a:p>
          <a:p>
            <a:pPr marL="0" indent="0">
              <a:lnSpc>
                <a:spcPct val="90000"/>
              </a:lnSpc>
              <a:spcBef>
                <a:spcPts val="2500"/>
              </a:spcBef>
              <a:spcAft>
                <a:spcPts val="600"/>
              </a:spcAft>
              <a:buNone/>
            </a:pPr>
            <a:r>
              <a:rPr lang="en-US" sz="1200" b="1"/>
              <a:t>Advantages of Cluster Sampling</a:t>
            </a:r>
          </a:p>
          <a:p>
            <a:pPr marL="0" lvl="1" indent="0">
              <a:lnSpc>
                <a:spcPct val="90000"/>
              </a:lnSpc>
              <a:spcBef>
                <a:spcPts val="1000"/>
              </a:spcBef>
              <a:spcAft>
                <a:spcPts val="600"/>
              </a:spcAft>
              <a:buNone/>
            </a:pPr>
            <a:r>
              <a:rPr lang="en-US" sz="1200"/>
              <a:t>It is cost-effective and practical for geographically dispersed populations, reducing travel and administrative costs.</a:t>
            </a:r>
          </a:p>
          <a:p>
            <a:pPr marL="0" indent="0">
              <a:lnSpc>
                <a:spcPct val="90000"/>
              </a:lnSpc>
              <a:spcBef>
                <a:spcPts val="2500"/>
              </a:spcBef>
              <a:spcAft>
                <a:spcPts val="600"/>
              </a:spcAft>
              <a:buNone/>
            </a:pPr>
            <a:r>
              <a:rPr lang="en-US" sz="1200" b="1"/>
              <a:t>Disadvantages and Limitations</a:t>
            </a:r>
          </a:p>
          <a:p>
            <a:pPr marL="0" lvl="1" indent="0">
              <a:lnSpc>
                <a:spcPct val="90000"/>
              </a:lnSpc>
              <a:spcBef>
                <a:spcPts val="1000"/>
              </a:spcBef>
              <a:spcAft>
                <a:spcPts val="600"/>
              </a:spcAft>
              <a:buNone/>
            </a:pPr>
            <a:r>
              <a:rPr lang="en-US" sz="1200"/>
              <a:t>Cluster sampling can lead to less precise estimates due to similarities within clusters, affecting accuracy.</a:t>
            </a:r>
          </a:p>
          <a:p>
            <a:pPr marL="0" indent="0">
              <a:lnSpc>
                <a:spcPct val="90000"/>
              </a:lnSpc>
              <a:spcBef>
                <a:spcPts val="2500"/>
              </a:spcBef>
              <a:spcAft>
                <a:spcPts val="600"/>
              </a:spcAft>
              <a:buNone/>
            </a:pPr>
            <a:r>
              <a:rPr lang="en-US" sz="1200" b="1"/>
              <a:t>Implementation in Python</a:t>
            </a:r>
          </a:p>
          <a:p>
            <a:pPr marL="0" lvl="1" indent="0">
              <a:lnSpc>
                <a:spcPct val="90000"/>
              </a:lnSpc>
              <a:spcBef>
                <a:spcPts val="1000"/>
              </a:spcBef>
              <a:spcAft>
                <a:spcPts val="600"/>
              </a:spcAft>
              <a:buNone/>
            </a:pPr>
            <a:r>
              <a:rPr lang="en-US" sz="1200"/>
              <a:t>Implemented by filtering data using randomly selected cluster identifiers in programming environments.</a:t>
            </a:r>
          </a:p>
        </p:txBody>
      </p:sp>
    </p:spTree>
    <p:extLst>
      <p:ext uri="{BB962C8B-B14F-4D97-AF65-F5344CB8AC3E}">
        <p14:creationId xmlns:p14="http://schemas.microsoft.com/office/powerpoint/2010/main" val="547984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CDEDAA-B878-7C3A-90F9-D6095F010F18}"/>
              </a:ext>
            </a:extLst>
          </p:cNvPr>
          <p:cNvSpPr>
            <a:spLocks noGrp="1"/>
          </p:cNvSpPr>
          <p:nvPr>
            <p:ph type="title"/>
          </p:nvPr>
        </p:nvSpPr>
        <p:spPr>
          <a:xfrm>
            <a:off x="0" y="2139696"/>
            <a:ext cx="8071011" cy="4718304"/>
          </a:xfrm>
        </p:spPr>
        <p:txBody>
          <a:bodyPr anchor="b">
            <a:normAutofit/>
          </a:bodyPr>
          <a:lstStyle/>
          <a:p>
            <a:r>
              <a:rPr lang="en-US"/>
              <a:t>Sample Size Determination</a:t>
            </a:r>
          </a:p>
        </p:txBody>
      </p:sp>
    </p:spTree>
    <p:extLst>
      <p:ext uri="{BB962C8B-B14F-4D97-AF65-F5344CB8AC3E}">
        <p14:creationId xmlns:p14="http://schemas.microsoft.com/office/powerpoint/2010/main" val="2433567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C9B6-27EB-0A72-E100-A85C0E2D5685}"/>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b="0" i="0" kern="1200" spc="-200" baseline="0">
                <a:latin typeface="+mj-lt"/>
                <a:ea typeface="+mj-ea"/>
                <a:cs typeface="+mj-cs"/>
              </a:rPr>
              <a:t>Sample Size Formula</a:t>
            </a:r>
          </a:p>
        </p:txBody>
      </p:sp>
      <p:sp>
        <p:nvSpPr>
          <p:cNvPr id="5" name="TextBox 4">
            <a:extLst>
              <a:ext uri="{FF2B5EF4-FFF2-40B4-BE49-F238E27FC236}">
                <a16:creationId xmlns:a16="http://schemas.microsoft.com/office/drawing/2014/main" id="{E02AA0A4-2B1C-4FEF-B604-E2D9132F827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57" y="3027522"/>
            <a:ext cx="3592043" cy="3822095"/>
          </a:xfrm>
          <a:prstGeom prst="rect">
            <a:avLst/>
          </a:prstGeom>
        </p:spPr>
        <p:txBody>
          <a:bodyPr lIns="91440" tIns="45720" rIns="91440" bIns="45720" anchor="t">
            <a:normAutofit/>
          </a:bodyPr>
          <a:lstStyle/>
          <a:p>
            <a:pPr marL="0" indent="0">
              <a:lnSpc>
                <a:spcPct val="90000"/>
              </a:lnSpc>
              <a:spcBef>
                <a:spcPts val="2500"/>
              </a:spcBef>
              <a:spcAft>
                <a:spcPts val="600"/>
              </a:spcAft>
              <a:buNone/>
            </a:pPr>
            <a:r>
              <a:rPr lang="en-US" sz="1200" b="1"/>
              <a:t>Importance of Sample Size</a:t>
            </a:r>
          </a:p>
          <a:p>
            <a:pPr marL="0" lvl="1" indent="0">
              <a:lnSpc>
                <a:spcPct val="90000"/>
              </a:lnSpc>
              <a:spcBef>
                <a:spcPts val="1000"/>
              </a:spcBef>
              <a:spcAft>
                <a:spcPts val="600"/>
              </a:spcAft>
              <a:buNone/>
            </a:pPr>
            <a:r>
              <a:rPr lang="en-US" sz="1200"/>
              <a:t>Appropriate sample size ensures reliable and valid statistical inferences in research studies.</a:t>
            </a:r>
          </a:p>
          <a:p>
            <a:pPr marL="0" indent="0">
              <a:lnSpc>
                <a:spcPct val="90000"/>
              </a:lnSpc>
              <a:spcBef>
                <a:spcPts val="2500"/>
              </a:spcBef>
              <a:spcAft>
                <a:spcPts val="600"/>
              </a:spcAft>
              <a:buNone/>
            </a:pPr>
            <a:r>
              <a:rPr lang="en-US" sz="1200" b="1"/>
              <a:t>Sample Size Formula</a:t>
            </a:r>
          </a:p>
          <a:p>
            <a:pPr marL="0" lvl="1" indent="0">
              <a:lnSpc>
                <a:spcPct val="90000"/>
              </a:lnSpc>
              <a:spcBef>
                <a:spcPts val="1000"/>
              </a:spcBef>
              <a:spcAft>
                <a:spcPts val="600"/>
              </a:spcAft>
              <a:buNone/>
            </a:pPr>
            <a:r>
              <a:rPr lang="en-US" sz="1200"/>
              <a:t>The formula n = (Z^2 * p * (1 - p)) / E^2 calculates the required sample size based on confidence level and margin of error.</a:t>
            </a:r>
          </a:p>
          <a:p>
            <a:pPr marL="0" indent="0">
              <a:lnSpc>
                <a:spcPct val="90000"/>
              </a:lnSpc>
              <a:spcBef>
                <a:spcPts val="2500"/>
              </a:spcBef>
              <a:spcAft>
                <a:spcPts val="600"/>
              </a:spcAft>
              <a:buNone/>
            </a:pPr>
            <a:r>
              <a:rPr lang="en-US" sz="1200" b="1"/>
              <a:t>Balancing Precision and Resources</a:t>
            </a:r>
          </a:p>
          <a:p>
            <a:pPr marL="0" lvl="1" indent="0">
              <a:lnSpc>
                <a:spcPct val="90000"/>
              </a:lnSpc>
              <a:spcBef>
                <a:spcPts val="1000"/>
              </a:spcBef>
              <a:spcAft>
                <a:spcPts val="600"/>
              </a:spcAft>
              <a:buNone/>
            </a:pPr>
            <a:r>
              <a:rPr lang="en-US" sz="1200"/>
              <a:t>The formula helps balance precision and resource constraints by avoiding overly large or small samples.</a:t>
            </a:r>
          </a:p>
          <a:p>
            <a:pPr marL="0" lvl="1">
              <a:lnSpc>
                <a:spcPct val="90000"/>
              </a:lnSpc>
              <a:spcBef>
                <a:spcPts val="1000"/>
              </a:spcBef>
              <a:spcAft>
                <a:spcPts val="600"/>
              </a:spcAft>
            </a:pPr>
            <a:r>
              <a:rPr lang="en-US" sz="1200">
                <a:ea typeface="+mn-lt"/>
                <a:cs typeface="+mn-lt"/>
                <a:hlinkClick r:id="rId3"/>
              </a:rPr>
              <a:t>http://www.raosoft.com/samplesize.html</a:t>
            </a:r>
            <a:endParaRPr lang="en-US"/>
          </a:p>
          <a:p>
            <a:pPr marL="0" lvl="1">
              <a:lnSpc>
                <a:spcPct val="90000"/>
              </a:lnSpc>
              <a:spcBef>
                <a:spcPts val="1000"/>
              </a:spcBef>
              <a:spcAft>
                <a:spcPts val="600"/>
              </a:spcAft>
            </a:pPr>
            <a:endParaRPr lang="en-US" sz="1200"/>
          </a:p>
        </p:txBody>
      </p:sp>
      <p:pic>
        <p:nvPicPr>
          <p:cNvPr id="4" name="Content Placeholder 3" descr="Formulae written on a blackboard">
            <a:extLst>
              <a:ext uri="{FF2B5EF4-FFF2-40B4-BE49-F238E27FC236}">
                <a16:creationId xmlns:a16="http://schemas.microsoft.com/office/drawing/2014/main" id="{7774306F-5AAB-473B-B485-8D8C27A08C75}"/>
              </a:ext>
            </a:extLst>
          </p:cNvPr>
          <p:cNvPicPr>
            <a:picLocks noGrp="1" noChangeAspect="1"/>
          </p:cNvPicPr>
          <p:nvPr>
            <p:ph type="pic" idx="1"/>
          </p:nvPr>
        </p:nvPicPr>
        <p:blipFill>
          <a:blip r:embed="rId4"/>
          <a:stretch/>
        </p:blipFill>
        <p:spPr>
          <a:xfrm>
            <a:off x="5366157" y="1552109"/>
            <a:ext cx="6707160" cy="4477031"/>
          </a:xfrm>
          <a:prstGeom prst="rect">
            <a:avLst/>
          </a:prstGeom>
          <a:noFill/>
        </p:spPr>
      </p:pic>
    </p:spTree>
    <p:extLst>
      <p:ext uri="{BB962C8B-B14F-4D97-AF65-F5344CB8AC3E}">
        <p14:creationId xmlns:p14="http://schemas.microsoft.com/office/powerpoint/2010/main" val="17976457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FDD7-FE46-3E0C-8927-C6ED47EFF8B4}"/>
              </a:ext>
            </a:extLst>
          </p:cNvPr>
          <p:cNvSpPr>
            <a:spLocks noGrp="1"/>
          </p:cNvSpPr>
          <p:nvPr>
            <p:ph type="title"/>
          </p:nvPr>
        </p:nvSpPr>
        <p:spPr>
          <a:xfrm>
            <a:off x="518965" y="621792"/>
            <a:ext cx="4446871" cy="1867629"/>
          </a:xfrm>
        </p:spPr>
        <p:txBody>
          <a:bodyPr vert="horz" lIns="91440" tIns="45720" rIns="91440" bIns="45720" rtlCol="0" anchor="t">
            <a:normAutofit/>
          </a:bodyPr>
          <a:lstStyle/>
          <a:p>
            <a:r>
              <a:rPr lang="en-US" sz="4800" b="0" i="0" kern="1200" spc="-200" baseline="0">
                <a:latin typeface="+mj-lt"/>
                <a:ea typeface="+mj-ea"/>
                <a:cs typeface="+mj-cs"/>
              </a:rPr>
              <a:t>Simple Random Sampling in Python</a:t>
            </a:r>
          </a:p>
        </p:txBody>
      </p:sp>
      <p:sp>
        <p:nvSpPr>
          <p:cNvPr id="5" name="TextBox 4">
            <a:extLst>
              <a:ext uri="{FF2B5EF4-FFF2-40B4-BE49-F238E27FC236}">
                <a16:creationId xmlns:a16="http://schemas.microsoft.com/office/drawing/2014/main" id="{304C4812-3E8C-46B1-8BB3-91388217C70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940" y="2890729"/>
            <a:ext cx="4449227" cy="3138438"/>
          </a:xfrm>
          <a:prstGeom prst="rect">
            <a:avLst/>
          </a:prstGeom>
        </p:spPr>
        <p:txBody>
          <a:bodyPr>
            <a:normAutofit/>
          </a:bodyPr>
          <a:lstStyle/>
          <a:p>
            <a:pPr marL="0" indent="0">
              <a:spcBef>
                <a:spcPts val="2500"/>
              </a:spcBef>
              <a:spcAft>
                <a:spcPts val="600"/>
              </a:spcAft>
              <a:buNone/>
            </a:pPr>
            <a:r>
              <a:rPr lang="en-US" sz="1400" b="1"/>
              <a:t>Using random.sample Function</a:t>
            </a:r>
          </a:p>
          <a:p>
            <a:pPr marL="0" lvl="1" indent="0">
              <a:spcBef>
                <a:spcPts val="1000"/>
              </a:spcBef>
              <a:spcAft>
                <a:spcPts val="600"/>
              </a:spcAft>
              <a:buNone/>
            </a:pPr>
            <a:r>
              <a:rPr lang="en-US" sz="1400"/>
              <a:t>The random.sample function in Python selects a specified number of random items from a dataset without replacement.</a:t>
            </a:r>
          </a:p>
          <a:p>
            <a:pPr marL="0" indent="0">
              <a:spcBef>
                <a:spcPts val="2500"/>
              </a:spcBef>
              <a:spcAft>
                <a:spcPts val="600"/>
              </a:spcAft>
              <a:buNone/>
            </a:pPr>
            <a:r>
              <a:rPr lang="en-US" sz="1400" b="1"/>
              <a:t>Purpose and Use Cases</a:t>
            </a:r>
          </a:p>
          <a:p>
            <a:pPr marL="0" lvl="1" indent="0">
              <a:spcBef>
                <a:spcPts val="1000"/>
              </a:spcBef>
              <a:spcAft>
                <a:spcPts val="600"/>
              </a:spcAft>
              <a:buNone/>
            </a:pPr>
            <a:r>
              <a:rPr lang="en-US" sz="1400"/>
              <a:t>Simple random sampling provides quick and unbiased data subsets for exploratory analysis and testing scenarios.</a:t>
            </a:r>
          </a:p>
        </p:txBody>
      </p:sp>
      <p:pic>
        <p:nvPicPr>
          <p:cNvPr id="4" name="Content Placeholder 3"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C49ED3A0-9873-453D-B9D0-78B06788F5B6}"/>
              </a:ext>
            </a:extLst>
          </p:cNvPr>
          <p:cNvPicPr>
            <a:picLocks noGrp="1" noChangeAspect="1"/>
          </p:cNvPicPr>
          <p:nvPr>
            <p:ph type="pic" sz="quarter" idx="13"/>
          </p:nvPr>
        </p:nvPicPr>
        <p:blipFill>
          <a:blip r:embed="rId3"/>
          <a:srcRect l="32144" r="1392" b="-1"/>
          <a:stretch>
            <a:fillRect/>
          </a:stretch>
        </p:blipFill>
        <p:spPr>
          <a:xfrm>
            <a:off x="5363570" y="10"/>
            <a:ext cx="6828430" cy="6857990"/>
          </a:xfrm>
          <a:prstGeom prst="rect">
            <a:avLst/>
          </a:prstGeom>
          <a:noFill/>
        </p:spPr>
      </p:pic>
    </p:spTree>
    <p:extLst>
      <p:ext uri="{BB962C8B-B14F-4D97-AF65-F5344CB8AC3E}">
        <p14:creationId xmlns:p14="http://schemas.microsoft.com/office/powerpoint/2010/main" val="3052299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428E-5886-89BB-A854-7CD3EE42C212}"/>
              </a:ext>
            </a:extLst>
          </p:cNvPr>
          <p:cNvSpPr>
            <a:spLocks noGrp="1"/>
          </p:cNvSpPr>
          <p:nvPr>
            <p:ph type="title"/>
          </p:nvPr>
        </p:nvSpPr>
        <p:spPr>
          <a:xfrm>
            <a:off x="-18288" y="1005840"/>
            <a:ext cx="3595634" cy="2212313"/>
          </a:xfrm>
        </p:spPr>
        <p:txBody>
          <a:bodyPr vert="horz" lIns="91440" tIns="45720" rIns="91440" bIns="45720" rtlCol="0" anchor="t">
            <a:normAutofit/>
          </a:bodyPr>
          <a:lstStyle/>
          <a:p>
            <a:r>
              <a:rPr lang="en-US" b="0" i="0" kern="1200" spc="-200" baseline="0">
                <a:latin typeface="+mj-lt"/>
                <a:ea typeface="+mj-ea"/>
                <a:cs typeface="+mj-cs"/>
              </a:rPr>
              <a:t>Stratified Sampling in Python</a:t>
            </a:r>
          </a:p>
        </p:txBody>
      </p:sp>
      <p:sp>
        <p:nvSpPr>
          <p:cNvPr id="5" name="TextBox 4">
            <a:extLst>
              <a:ext uri="{FF2B5EF4-FFF2-40B4-BE49-F238E27FC236}">
                <a16:creationId xmlns:a16="http://schemas.microsoft.com/office/drawing/2014/main" id="{CBE37BB7-20CD-463A-A44D-5C62862C4FA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3402064"/>
            <a:ext cx="3585586" cy="3434638"/>
          </a:xfrm>
          <a:prstGeom prst="rect">
            <a:avLst/>
          </a:prstGeom>
        </p:spPr>
        <p:txBody>
          <a:bodyPr>
            <a:normAutofit/>
          </a:bodyPr>
          <a:lstStyle/>
          <a:p>
            <a:pPr marL="0" indent="0">
              <a:lnSpc>
                <a:spcPct val="90000"/>
              </a:lnSpc>
              <a:spcBef>
                <a:spcPts val="2500"/>
              </a:spcBef>
              <a:spcAft>
                <a:spcPts val="600"/>
              </a:spcAft>
              <a:buNone/>
            </a:pPr>
            <a:r>
              <a:rPr lang="en-US" sz="1100" b="1"/>
              <a:t>Implementation with groupby</a:t>
            </a:r>
          </a:p>
          <a:p>
            <a:pPr marL="0" lvl="1" indent="0">
              <a:lnSpc>
                <a:spcPct val="90000"/>
              </a:lnSpc>
              <a:spcBef>
                <a:spcPts val="1000"/>
              </a:spcBef>
              <a:spcAft>
                <a:spcPts val="600"/>
              </a:spcAft>
              <a:buNone/>
            </a:pPr>
            <a:r>
              <a:rPr lang="en-US" sz="1100"/>
              <a:t>Stratified sampling uses groupby and apply functions to sample proportional data from each subgroup.</a:t>
            </a:r>
          </a:p>
          <a:p>
            <a:pPr marL="0" indent="0">
              <a:lnSpc>
                <a:spcPct val="90000"/>
              </a:lnSpc>
              <a:spcBef>
                <a:spcPts val="2500"/>
              </a:spcBef>
              <a:spcAft>
                <a:spcPts val="600"/>
              </a:spcAft>
              <a:buNone/>
            </a:pPr>
            <a:r>
              <a:rPr lang="en-US" sz="1100" b="1"/>
              <a:t>Ensuring Proportional Representation</a:t>
            </a:r>
          </a:p>
          <a:p>
            <a:pPr marL="0" lvl="1" indent="0">
              <a:lnSpc>
                <a:spcPct val="90000"/>
              </a:lnSpc>
              <a:spcBef>
                <a:spcPts val="1000"/>
              </a:spcBef>
              <a:spcAft>
                <a:spcPts val="600"/>
              </a:spcAft>
              <a:buNone/>
            </a:pPr>
            <a:r>
              <a:rPr lang="en-US" sz="1100"/>
              <a:t>This method guarantees proportional subgroup representation improving accuracy of statistical analysis.</a:t>
            </a:r>
          </a:p>
          <a:p>
            <a:pPr marL="0" indent="0">
              <a:lnSpc>
                <a:spcPct val="90000"/>
              </a:lnSpc>
              <a:spcBef>
                <a:spcPts val="2500"/>
              </a:spcBef>
              <a:spcAft>
                <a:spcPts val="600"/>
              </a:spcAft>
              <a:buNone/>
            </a:pPr>
            <a:r>
              <a:rPr lang="en-US" sz="1100" b="1"/>
              <a:t>Applications of Stratified Sampling</a:t>
            </a:r>
          </a:p>
          <a:p>
            <a:pPr marL="0" lvl="1" indent="0">
              <a:lnSpc>
                <a:spcPct val="90000"/>
              </a:lnSpc>
              <a:spcBef>
                <a:spcPts val="1000"/>
              </a:spcBef>
              <a:spcAft>
                <a:spcPts val="600"/>
              </a:spcAft>
              <a:buNone/>
            </a:pPr>
            <a:r>
              <a:rPr lang="en-US" sz="1100"/>
              <a:t>Commonly applied in demographic studies, customer segmentation, and policy evaluation for better insights.</a:t>
            </a:r>
          </a:p>
        </p:txBody>
      </p:sp>
      <p:pic>
        <p:nvPicPr>
          <p:cNvPr id="4" name="Content Placeholder 3" descr="Assortment of colourful pins.">
            <a:extLst>
              <a:ext uri="{FF2B5EF4-FFF2-40B4-BE49-F238E27FC236}">
                <a16:creationId xmlns:a16="http://schemas.microsoft.com/office/drawing/2014/main" id="{CEBFC944-627F-42EA-B95B-730E24A067B5}"/>
              </a:ext>
            </a:extLst>
          </p:cNvPr>
          <p:cNvPicPr>
            <a:picLocks noGrp="1" noChangeAspect="1"/>
          </p:cNvPicPr>
          <p:nvPr>
            <p:ph type="pic" idx="1"/>
          </p:nvPr>
        </p:nvPicPr>
        <p:blipFill>
          <a:blip r:embed="rId3"/>
          <a:stretch/>
        </p:blipFill>
        <p:spPr>
          <a:xfrm>
            <a:off x="5366157" y="1552110"/>
            <a:ext cx="6707160" cy="4477029"/>
          </a:xfrm>
          <a:prstGeom prst="rect">
            <a:avLst/>
          </a:prstGeom>
          <a:noFill/>
        </p:spPr>
      </p:pic>
    </p:spTree>
    <p:extLst>
      <p:ext uri="{BB962C8B-B14F-4D97-AF65-F5344CB8AC3E}">
        <p14:creationId xmlns:p14="http://schemas.microsoft.com/office/powerpoint/2010/main" val="1695303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4722-5164-7CD9-74A2-1A532D1B9831}"/>
              </a:ext>
            </a:extLst>
          </p:cNvPr>
          <p:cNvSpPr>
            <a:spLocks noGrp="1"/>
          </p:cNvSpPr>
          <p:nvPr>
            <p:ph type="title"/>
          </p:nvPr>
        </p:nvSpPr>
        <p:spPr>
          <a:xfrm>
            <a:off x="4281793" y="621792"/>
            <a:ext cx="7252710" cy="1138769"/>
          </a:xfrm>
        </p:spPr>
        <p:txBody>
          <a:bodyPr vert="horz" lIns="91440" tIns="45720" rIns="91440" bIns="45720" rtlCol="0" anchor="t">
            <a:normAutofit/>
          </a:bodyPr>
          <a:lstStyle/>
          <a:p>
            <a:r>
              <a:rPr lang="en-US" sz="5200" b="0" i="0" kern="1200" spc="-200" baseline="0">
                <a:latin typeface="+mj-lt"/>
                <a:ea typeface="+mj-ea"/>
                <a:cs typeface="+mj-cs"/>
              </a:rPr>
              <a:t>Summary and Questions</a:t>
            </a:r>
          </a:p>
        </p:txBody>
      </p:sp>
      <p:pic>
        <p:nvPicPr>
          <p:cNvPr id="4" name="Content Placeholder 3" descr="Science, Math, Chemistry Equations">
            <a:extLst>
              <a:ext uri="{FF2B5EF4-FFF2-40B4-BE49-F238E27FC236}">
                <a16:creationId xmlns:a16="http://schemas.microsoft.com/office/drawing/2014/main" id="{41079D0C-AB4C-4412-8E7E-EDDFC9A293F8}"/>
              </a:ext>
            </a:extLst>
          </p:cNvPr>
          <p:cNvPicPr>
            <a:picLocks noGrp="1" noChangeAspect="1"/>
          </p:cNvPicPr>
          <p:nvPr>
            <p:ph type="pic" sz="quarter" idx="13"/>
          </p:nvPr>
        </p:nvPicPr>
        <p:blipFill>
          <a:blip r:embed="rId3"/>
          <a:srcRect l="32392" r="34608"/>
          <a:stretch>
            <a:fillRect/>
          </a:stretch>
        </p:blipFill>
        <p:spPr>
          <a:xfrm>
            <a:off x="20" y="1"/>
            <a:ext cx="4023340" cy="6858000"/>
          </a:xfrm>
          <a:prstGeom prst="rect">
            <a:avLst/>
          </a:prstGeom>
          <a:noFill/>
        </p:spPr>
      </p:pic>
      <p:sp>
        <p:nvSpPr>
          <p:cNvPr id="5" name="TextBox 4">
            <a:extLst>
              <a:ext uri="{FF2B5EF4-FFF2-40B4-BE49-F238E27FC236}">
                <a16:creationId xmlns:a16="http://schemas.microsoft.com/office/drawing/2014/main" id="{3C162703-A281-4B9F-9450-964B47AF7F5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300" b="1"/>
              <a:t>Importance of Sampling</a:t>
            </a:r>
          </a:p>
          <a:p>
            <a:pPr marL="0" lvl="1" indent="0">
              <a:lnSpc>
                <a:spcPct val="90000"/>
              </a:lnSpc>
              <a:spcBef>
                <a:spcPts val="1000"/>
              </a:spcBef>
              <a:spcAft>
                <a:spcPts val="600"/>
              </a:spcAft>
              <a:buNone/>
            </a:pPr>
            <a:r>
              <a:rPr lang="en-US" sz="1300"/>
              <a:t>Sampling enables efficient, cost-effective insights into large populations for accurate data analysis results.</a:t>
            </a:r>
          </a:p>
          <a:p>
            <a:pPr marL="0" indent="0">
              <a:lnSpc>
                <a:spcPct val="90000"/>
              </a:lnSpc>
              <a:spcBef>
                <a:spcPts val="2500"/>
              </a:spcBef>
              <a:spcAft>
                <a:spcPts val="600"/>
              </a:spcAft>
              <a:buNone/>
            </a:pPr>
            <a:r>
              <a:rPr lang="en-US" sz="1300" b="1"/>
              <a:t>Sampling Methods</a:t>
            </a:r>
          </a:p>
          <a:p>
            <a:pPr marL="0" lvl="1" indent="0">
              <a:lnSpc>
                <a:spcPct val="90000"/>
              </a:lnSpc>
              <a:spcBef>
                <a:spcPts val="1000"/>
              </a:spcBef>
              <a:spcAft>
                <a:spcPts val="600"/>
              </a:spcAft>
              <a:buNone/>
            </a:pPr>
            <a:r>
              <a:rPr lang="en-US" sz="1300"/>
              <a:t>Methods like simple random, stratified, systematic, and cluster sampling address diverse research needs.</a:t>
            </a:r>
          </a:p>
          <a:p>
            <a:pPr marL="0" indent="0">
              <a:lnSpc>
                <a:spcPct val="90000"/>
              </a:lnSpc>
              <a:spcBef>
                <a:spcPts val="2500"/>
              </a:spcBef>
              <a:spcAft>
                <a:spcPts val="600"/>
              </a:spcAft>
              <a:buNone/>
            </a:pPr>
            <a:r>
              <a:rPr lang="en-US" sz="1300" b="1"/>
              <a:t>Sample Size Validity</a:t>
            </a:r>
          </a:p>
          <a:p>
            <a:pPr marL="0" lvl="1" indent="0">
              <a:lnSpc>
                <a:spcPct val="90000"/>
              </a:lnSpc>
              <a:spcBef>
                <a:spcPts val="1000"/>
              </a:spcBef>
              <a:spcAft>
                <a:spcPts val="600"/>
              </a:spcAft>
              <a:buNone/>
            </a:pPr>
            <a:r>
              <a:rPr lang="en-US" sz="1300"/>
              <a:t>Understanding sample size formula ensures statistically valid and reliable sample data.</a:t>
            </a:r>
          </a:p>
          <a:p>
            <a:pPr marL="0" indent="0">
              <a:lnSpc>
                <a:spcPct val="90000"/>
              </a:lnSpc>
              <a:spcBef>
                <a:spcPts val="2500"/>
              </a:spcBef>
              <a:spcAft>
                <a:spcPts val="600"/>
              </a:spcAft>
              <a:buNone/>
            </a:pPr>
            <a:r>
              <a:rPr lang="en-US" sz="1300" b="1"/>
              <a:t>Python Tools for Sampling</a:t>
            </a:r>
          </a:p>
          <a:p>
            <a:pPr marL="0" lvl="1" indent="0">
              <a:lnSpc>
                <a:spcPct val="90000"/>
              </a:lnSpc>
              <a:spcBef>
                <a:spcPts val="1000"/>
              </a:spcBef>
              <a:spcAft>
                <a:spcPts val="600"/>
              </a:spcAft>
              <a:buNone/>
            </a:pPr>
            <a:r>
              <a:rPr lang="en-US" sz="1300"/>
              <a:t>Python provides powerful tools to implement sampling methods accessible to analysts and researchers.</a:t>
            </a:r>
          </a:p>
        </p:txBody>
      </p:sp>
    </p:spTree>
    <p:extLst>
      <p:ext uri="{BB962C8B-B14F-4D97-AF65-F5344CB8AC3E}">
        <p14:creationId xmlns:p14="http://schemas.microsoft.com/office/powerpoint/2010/main" val="2088799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A9C388-2C06-4AF2-857C-74055069A29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Axis</vt:lpstr>
      <vt:lpstr>Sampling Methods and Sample Size</vt:lpstr>
      <vt:lpstr>Introduction to Sampling</vt:lpstr>
      <vt:lpstr>What is Sampling?</vt:lpstr>
      <vt:lpstr>Types of Sampling Methods</vt:lpstr>
      <vt:lpstr>Simple Random Sampling</vt:lpstr>
      <vt:lpstr>Stratified Sampling</vt:lpstr>
      <vt:lpstr>Systematic Sampling</vt:lpstr>
      <vt:lpstr>Cluster Sampling</vt:lpstr>
      <vt:lpstr>Sample Size Determination</vt:lpstr>
      <vt:lpstr>Sample Size Formula</vt:lpstr>
      <vt:lpstr>Simple Random Sampling in Python</vt:lpstr>
      <vt:lpstr>Stratified Sampling in Python</vt:lpstr>
      <vt:lpstr>Summary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created xsi:type="dcterms:W3CDTF">2024-06-26T20:20:27Z</dcterms:created>
  <dcterms:modified xsi:type="dcterms:W3CDTF">2025-11-07T17:13:24Z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55c5eb89-a1ec-4cf8-b8d4-f6a23bcf8f72_Enabled">
    <vt:lpwstr>true</vt:lpwstr>
  </property>
  <property fmtid="{D5CDD505-2E9C-101B-9397-08002B2CF9AE}" pid="5" name="MSIP_Label_55c5eb89-a1ec-4cf8-b8d4-f6a23bcf8f72_SetDate">
    <vt:lpwstr>2025-11-07T16:04:35Z</vt:lpwstr>
  </property>
  <property fmtid="{D5CDD505-2E9C-101B-9397-08002B2CF9AE}" pid="6" name="MSIP_Label_55c5eb89-a1ec-4cf8-b8d4-f6a23bcf8f72_Method">
    <vt:lpwstr>Privileged</vt:lpwstr>
  </property>
  <property fmtid="{D5CDD505-2E9C-101B-9397-08002B2CF9AE}" pid="7" name="MSIP_Label_55c5eb89-a1ec-4cf8-b8d4-f6a23bcf8f72_Name">
    <vt:lpwstr>PUBLIC</vt:lpwstr>
  </property>
  <property fmtid="{D5CDD505-2E9C-101B-9397-08002B2CF9AE}" pid="8" name="MSIP_Label_55c5eb89-a1ec-4cf8-b8d4-f6a23bcf8f72_SiteId">
    <vt:lpwstr>968fd953-3deb-4543-8ab9-8b0f19e71ed9</vt:lpwstr>
  </property>
  <property fmtid="{D5CDD505-2E9C-101B-9397-08002B2CF9AE}" pid="9" name="MSIP_Label_55c5eb89-a1ec-4cf8-b8d4-f6a23bcf8f72_ActionId">
    <vt:lpwstr>e15a8bec-a947-4e78-96bf-0a96985d8286</vt:lpwstr>
  </property>
  <property fmtid="{D5CDD505-2E9C-101B-9397-08002B2CF9AE}" pid="10" name="MSIP_Label_55c5eb89-a1ec-4cf8-b8d4-f6a23bcf8f72_ContentBits">
    <vt:lpwstr>0</vt:lpwstr>
  </property>
  <property fmtid="{D5CDD505-2E9C-101B-9397-08002B2CF9AE}" pid="11" name="MSIP_Label_55c5eb89-a1ec-4cf8-b8d4-f6a23bcf8f72_Tag">
    <vt:lpwstr>10, 0, 1, 2</vt:lpwstr>
  </property>
</Properties>
</file>