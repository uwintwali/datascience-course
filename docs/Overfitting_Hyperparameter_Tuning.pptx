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4"/>
  </p:sldMasterIdLst>
  <p:notesMasterIdLst>
    <p:notesMasterId r:id="rId12"/>
  </p:notesMasterIdLst>
  <p:handoutMasterIdLst>
    <p:handoutMasterId r:id="rId13"/>
  </p:handoutMasterIdLst>
  <p:sldIdLst>
    <p:sldId id="2561" r:id="rId5"/>
    <p:sldId id="2562" r:id="rId6"/>
    <p:sldId id="2563" r:id="rId7"/>
    <p:sldId id="2564" r:id="rId8"/>
    <p:sldId id="2565" r:id="rId9"/>
    <p:sldId id="2566" r:id="rId10"/>
    <p:sldId id="25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derstanding Overfitting &amp; Hyperparameter Tuning" id="{0FC8BB8C-BEB7-4482-A592-05BE4597C499}">
          <p14:sldIdLst>
            <p14:sldId id="2561"/>
          </p14:sldIdLst>
        </p14:section>
        <p14:section name="What Is Overfitting?" id="{E7EB1843-2AE2-49A9-A9B8-AFF286B24D54}">
          <p14:sldIdLst>
            <p14:sldId id="2562"/>
            <p14:sldId id="2563"/>
          </p14:sldIdLst>
        </p14:section>
        <p14:section name="Why Overfitting Happens" id="{BCBA0DAC-BCAA-4B46-9217-082408F28729}">
          <p14:sldIdLst>
            <p14:sldId id="2564"/>
            <p14:sldId id="2565"/>
          </p14:sldIdLst>
        </p14:section>
        <p14:section name="Hyperparameter Tuning" id="{1C07AAA7-9D74-4A32-9610-9B09E5BF07FB}">
          <p14:sldIdLst>
            <p14:sldId id="2566"/>
            <p14:sldId id="256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C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520" autoAdjust="0"/>
  </p:normalViewPr>
  <p:slideViewPr>
    <p:cSldViewPr snapToGrid="0">
      <p:cViewPr>
        <p:scale>
          <a:sx n="82" d="100"/>
          <a:sy n="82" d="100"/>
        </p:scale>
        <p:origin x="720" y="19"/>
      </p:cViewPr>
      <p:guideLst>
        <p:guide orient="horz" pos="2160"/>
        <p:guide pos="3840"/>
      </p:guideLst>
    </p:cSldViewPr>
  </p:slideViewPr>
  <p:notesTextViewPr>
    <p:cViewPr>
      <p:scale>
        <a:sx n="1" d="1"/>
        <a:sy n="1" d="1"/>
      </p:scale>
      <p:origin x="0" y="-48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1/7/2026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619485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Definition and Key Indicators</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3215503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Overfitting occurs when a machine learning model learns the training data too well, including noise and outliers, rather than capturing generalizable patterns. This leads to excellent performance on the training set but poor performance on unseen data. Key indicators of overfitting include a significant gap between training and validation accuracy, where training accuracy is very high while validation accuracy is much lower. Another sign is when the model's complexity is disproportionate to the size of the dataset, such as using a deep decision tree for a small dataset. In the context of the penguins dataset, imagine a decision tree that memorizes every individual penguin's measurements instead of learning species-level patterns. Such a model will predict perfectly on the training set but fail on new penguins. Overfitting undermines the model's ability to generalize, which is the ultimate goal of machine learning. It is important to emphasize that overfitting is not just a technical issue but a conceptual one: the model is essentially 'cheating' by memorizing answers rather than learning rules. This concept can be illustrated by plotting learning curves, where the training score remains high while the validation score stagnates or declines as training progresses. Understanding these symptoms helps learners recognize when a model is overfitting and why it is problematic for real-world applications.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094346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Causes and Contributing Factors</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4246239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Overfitting typically arises from excessive model complexity relative to the amount of available data. For example, a decision tree with unlimited depth can create highly specific rules that perfectly classify the training data but fail on new samples. Other causes include having too few training examples, which makes it easier for the model to memorize patterns rather than generalize. Including too many irrelevant or noisy features can also lead to overfitting because the model tries to account for every minor variation. Additionally, aggressive hyperparameter tuning without proper validation can push the model toward configurations that optimize training performance at the expense of generalization. In the penguins dataset scenario, if we allow a tree to split until every leaf represents a single penguin, the model will have zero training error but will likely misclassify new penguins. Overfitting can also occur when regularization is absent or too weak, allowing the model to become overly flexible. These factors highlight the importance of balancing complexity and simplicity. A useful analogy is drawing a boundary around data points: a simple boundary captures the overall trend, while a highly convoluted boundary fits every point perfectly but fails to predict new ones. Recognizing these causes helps learners understand why overfitting is a common challenge and why preventive strategies are essential.</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8465631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Strategies to Prevent Overfitting</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4122810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Hyperparameter tuning is the process of selecting the best configuration settings for a machine learning model to improve its performance and generalization. Unlike model parameters, which are learned during training, hyperparameters are set before training begins and control aspects such as model complexity, learning rate, and regularization strength. Effective tuning helps prevent overfitting by finding a balance between underfitting and overfitting. Common strategies include Grid Search, which systematically explores all combinations of specified hyperparameters, and Random Search, which samples combinations randomly for efficiency. Cross-validation is critical during tuning because it evaluates model performance on multiple subsets of data, reducing the risk of overfitting to a single validation set. Regularization techniques, such as limiting tree depth in decision trees or adding dropout in neural networks, also play a key role in controlling complexity. In the penguins dataset example, tuning the '</a:t>
            </a:r>
            <a:r>
              <a:rPr lang="en-US" dirty="0" err="1"/>
              <a:t>max_depth</a:t>
            </a:r>
            <a:r>
              <a:rPr lang="en-US" dirty="0"/>
              <a:t>' parameter of a decision tree can prevent the model from becoming overly complex. If the depth is too large, the tree memorizes training data; if too shallow, it underfits. The goal is to find the 'sweet spot' where the model performs well on both training and unseen data. Automated tools like Bayesian optimization and </a:t>
            </a:r>
            <a:r>
              <a:rPr lang="en-US" dirty="0" err="1"/>
              <a:t>AutoML</a:t>
            </a:r>
            <a:r>
              <a:rPr lang="en-US" dirty="0"/>
              <a:t> can further streamline this process. By teaching these methods, learners understand that hyperparameter tuning is not about maximizing training accuracy but about achieving robust generalization.</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711305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3770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0009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039015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04456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dirty="0"/>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16740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dirty="0"/>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61858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dirty="0"/>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88428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8397197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24075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7168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6303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dirty="0"/>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0877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dirty="0"/>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1545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58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6444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05038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dirty="0"/>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0726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dirty="0"/>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dirty="0"/>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893579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dirty="0"/>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00994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886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861201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dirty="0"/>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313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dirty="0"/>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869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dirty="0"/>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70958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291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dirty="0"/>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dirty="0"/>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2115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551512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dirty="0"/>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72769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315290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dirty="0"/>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7773561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dirty="0"/>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73767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55429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696798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dirty="0"/>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322134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68177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dirty="0"/>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77309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36553323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dirty="0"/>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4664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271988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dirty="0"/>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751178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543796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dirty="0"/>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224012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dirty="0"/>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56379703"/>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dirty="0"/>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32899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888996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6651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3601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840229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95806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66636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20569987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6246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endParaRPr lang="en-US" dirty="0"/>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17197501"/>
      </p:ext>
    </p:extLst>
  </p:cSld>
  <p:clrMap bg1="lt1" tx1="dk1" bg2="lt2" tx2="dk2" accent1="accent1" accent2="accent2" accent3="accent3" accent4="accent4" accent5="accent5" accent6="accent6" hlink="hlink" folHlink="folHlink"/>
  <p:sldLayoutIdLst>
    <p:sldLayoutId id="2147484168" r:id="rId1"/>
    <p:sldLayoutId id="2147484164" r:id="rId2"/>
    <p:sldLayoutId id="2147484169" r:id="rId3"/>
    <p:sldLayoutId id="2147484170" r:id="rId4"/>
    <p:sldLayoutId id="2147484163" r:id="rId5"/>
    <p:sldLayoutId id="2147484165" r:id="rId6"/>
    <p:sldLayoutId id="2147484166" r:id="rId7"/>
    <p:sldLayoutId id="2147484167"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 id="2147484179" r:id="rId17"/>
    <p:sldLayoutId id="2147484180" r:id="rId18"/>
    <p:sldLayoutId id="2147484181" r:id="rId19"/>
    <p:sldLayoutId id="2147484182" r:id="rId20"/>
    <p:sldLayoutId id="2147484183" r:id="rId21"/>
    <p:sldLayoutId id="2147484184" r:id="rId22"/>
    <p:sldLayoutId id="2147484185" r:id="rId23"/>
    <p:sldLayoutId id="2147484186" r:id="rId24"/>
    <p:sldLayoutId id="2147484187" r:id="rId25"/>
    <p:sldLayoutId id="2147484188" r:id="rId26"/>
    <p:sldLayoutId id="2147484189" r:id="rId27"/>
    <p:sldLayoutId id="2147484190" r:id="rId28"/>
    <p:sldLayoutId id="2147484191" r:id="rId29"/>
    <p:sldLayoutId id="2147484192" r:id="rId30"/>
    <p:sldLayoutId id="2147484193" r:id="rId31"/>
    <p:sldLayoutId id="2147484194" r:id="rId32"/>
    <p:sldLayoutId id="2147484195" r:id="rId33"/>
    <p:sldLayoutId id="2147484196" r:id="rId34"/>
    <p:sldLayoutId id="2147484197" r:id="rId35"/>
    <p:sldLayoutId id="2147484198" r:id="rId36"/>
    <p:sldLayoutId id="2147484199" r:id="rId37"/>
    <p:sldLayoutId id="2147484200" r:id="rId38"/>
    <p:sldLayoutId id="2147484201" r:id="rId39"/>
    <p:sldLayoutId id="2147484202" r:id="rId40"/>
    <p:sldLayoutId id="2147484203" r:id="rId41"/>
    <p:sldLayoutId id="2147484216" r:id="rId42"/>
    <p:sldLayoutId id="2147484205" r:id="rId43"/>
    <p:sldLayoutId id="2147484206" r:id="rId44"/>
    <p:sldLayoutId id="2147484207" r:id="rId45"/>
    <p:sldLayoutId id="2147484208" r:id="rId46"/>
    <p:sldLayoutId id="2147484209" r:id="rId47"/>
    <p:sldLayoutId id="2147484210" r:id="rId48"/>
    <p:sldLayoutId id="2147484211" r:id="rId49"/>
    <p:sldLayoutId id="2147484212" r:id="rId50"/>
    <p:sldLayoutId id="2147484213" r:id="rId51"/>
    <p:sldLayoutId id="2147484214" r:id="rId52"/>
    <p:sldLayoutId id="2147484215"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04BF-F2C7-81B0-D60F-C7CD7B1A4137}"/>
              </a:ext>
            </a:extLst>
          </p:cNvPr>
          <p:cNvSpPr>
            <a:spLocks noGrp="1"/>
          </p:cNvSpPr>
          <p:nvPr>
            <p:ph type="ctrTitle"/>
          </p:nvPr>
        </p:nvSpPr>
        <p:spPr>
          <a:xfrm>
            <a:off x="6704598" y="2339742"/>
            <a:ext cx="4856348" cy="1546458"/>
          </a:xfrm>
        </p:spPr>
        <p:txBody>
          <a:bodyPr anchor="b">
            <a:normAutofit/>
          </a:bodyPr>
          <a:lstStyle/>
          <a:p>
            <a:r>
              <a:rPr lang="en-US" sz="2800"/>
              <a:t>Understanding Overfitting &amp; Hyperparameter Tuning</a:t>
            </a:r>
          </a:p>
        </p:txBody>
      </p:sp>
      <p:sp>
        <p:nvSpPr>
          <p:cNvPr id="3" name="Subtitle 2">
            <a:extLst>
              <a:ext uri="{FF2B5EF4-FFF2-40B4-BE49-F238E27FC236}">
                <a16:creationId xmlns:a16="http://schemas.microsoft.com/office/drawing/2014/main" id="{A6B2FBEF-D356-ED96-F070-D49FDF713769}"/>
              </a:ext>
            </a:extLst>
          </p:cNvPr>
          <p:cNvSpPr>
            <a:spLocks noGrp="1"/>
          </p:cNvSpPr>
          <p:nvPr>
            <p:ph type="subTitle" idx="1"/>
          </p:nvPr>
        </p:nvSpPr>
        <p:spPr>
          <a:xfrm>
            <a:off x="6704598" y="4142852"/>
            <a:ext cx="4856348" cy="2029344"/>
          </a:xfrm>
        </p:spPr>
        <p:txBody>
          <a:bodyPr>
            <a:normAutofit/>
          </a:bodyPr>
          <a:lstStyle/>
          <a:p>
            <a:r>
              <a:rPr lang="en-US"/>
              <a:t>Improving model accuracy and avoiding training errors</a:t>
            </a:r>
          </a:p>
        </p:txBody>
      </p:sp>
      <p:pic>
        <p:nvPicPr>
          <p:cNvPr id="4" name="Picture 3" descr="3D abstract blue and gold cube illustration">
            <a:extLst>
              <a:ext uri="{FF2B5EF4-FFF2-40B4-BE49-F238E27FC236}">
                <a16:creationId xmlns:a16="http://schemas.microsoft.com/office/drawing/2014/main" id="{4D208726-0D94-446C-B9DD-9D408213486A}"/>
              </a:ext>
            </a:extLst>
          </p:cNvPr>
          <p:cNvPicPr>
            <a:picLocks noChangeAspect="1"/>
          </p:cNvPicPr>
          <p:nvPr/>
        </p:nvPicPr>
        <p:blipFill>
          <a:blip r:embed="rId3"/>
          <a:srcRect l="15478" r="32419"/>
          <a:stretch>
            <a:fillRect/>
          </a:stretch>
        </p:blipFill>
        <p:spPr>
          <a:xfrm>
            <a:off x="272796" y="233172"/>
            <a:ext cx="5550408" cy="6391656"/>
          </a:xfrm>
          <a:prstGeom prst="rect">
            <a:avLst/>
          </a:prstGeom>
        </p:spPr>
      </p:pic>
    </p:spTree>
    <p:extLst>
      <p:ext uri="{BB962C8B-B14F-4D97-AF65-F5344CB8AC3E}">
        <p14:creationId xmlns:p14="http://schemas.microsoft.com/office/powerpoint/2010/main" val="55465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EC7AF-EDA5-BD75-563A-1D92C6F34DD2}"/>
              </a:ext>
            </a:extLst>
          </p:cNvPr>
          <p:cNvSpPr>
            <a:spLocks noGrp="1"/>
          </p:cNvSpPr>
          <p:nvPr>
            <p:ph type="ctrTitle"/>
          </p:nvPr>
        </p:nvSpPr>
        <p:spPr>
          <a:xfrm>
            <a:off x="612648" y="1417671"/>
            <a:ext cx="7909560" cy="4754529"/>
          </a:xfrm>
        </p:spPr>
        <p:txBody>
          <a:bodyPr anchor="b">
            <a:normAutofit/>
          </a:bodyPr>
          <a:lstStyle/>
          <a:p>
            <a:r>
              <a:rPr lang="en-US"/>
              <a:t>What Is Overfitting?</a:t>
            </a:r>
          </a:p>
        </p:txBody>
      </p:sp>
    </p:spTree>
    <p:extLst>
      <p:ext uri="{BB962C8B-B14F-4D97-AF65-F5344CB8AC3E}">
        <p14:creationId xmlns:p14="http://schemas.microsoft.com/office/powerpoint/2010/main" val="3440760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0ACE8-BAF1-4AF7-2C10-166BCB556BB3}"/>
              </a:ext>
            </a:extLst>
          </p:cNvPr>
          <p:cNvSpPr>
            <a:spLocks noGrp="1"/>
          </p:cNvSpPr>
          <p:nvPr>
            <p:ph type="title"/>
          </p:nvPr>
        </p:nvSpPr>
        <p:spPr>
          <a:xfrm>
            <a:off x="612647" y="709099"/>
            <a:ext cx="3956305" cy="891101"/>
          </a:xfrm>
        </p:spPr>
        <p:txBody>
          <a:bodyPr anchor="b">
            <a:normAutofit/>
          </a:bodyPr>
          <a:lstStyle/>
          <a:p>
            <a:r>
              <a:rPr lang="en-US"/>
              <a:t>Definition and Key Indicators</a:t>
            </a: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05996CB3-4B4A-4404-AD47-E19989A9010D}"/>
              </a:ext>
            </a:extLst>
          </p:cNvPr>
          <p:cNvPicPr>
            <a:picLocks noGrp="1" noChangeAspect="1"/>
          </p:cNvPicPr>
          <p:nvPr>
            <p:ph type="pic" sz="quarter" idx="15"/>
          </p:nvPr>
        </p:nvPicPr>
        <p:blipFill>
          <a:blip r:embed="rId3"/>
          <a:srcRect l="1550" r="15329" b="2"/>
          <a:stretch>
            <a:fillRect/>
          </a:stretch>
        </p:blipFill>
        <p:spPr>
          <a:xfrm>
            <a:off x="986599" y="2480792"/>
            <a:ext cx="4224528" cy="3392424"/>
          </a:xfrm>
        </p:spPr>
      </p:pic>
      <p:sp>
        <p:nvSpPr>
          <p:cNvPr id="4" name="Content Placeholder 3">
            <a:extLst>
              <a:ext uri="{FF2B5EF4-FFF2-40B4-BE49-F238E27FC236}">
                <a16:creationId xmlns:a16="http://schemas.microsoft.com/office/drawing/2014/main" id="{0A882E4A-E9D2-9E0E-8D3A-D0493967140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5999" y="732155"/>
            <a:ext cx="5486401" cy="5405377"/>
          </a:xfrm>
        </p:spPr>
        <p:txBody>
          <a:bodyPr>
            <a:normAutofit/>
          </a:bodyPr>
          <a:lstStyle/>
          <a:p>
            <a:pPr marL="0" indent="0">
              <a:spcBef>
                <a:spcPts val="2500"/>
              </a:spcBef>
              <a:buFont typeface="Arial" panose="020B0604020202020204" pitchFamily="34" charset="0"/>
              <a:buNone/>
            </a:pPr>
            <a:r>
              <a:rPr lang="en-US" b="1"/>
              <a:t>Overfitting Explained</a:t>
            </a:r>
          </a:p>
          <a:p>
            <a:pPr marL="0" lvl="1" indent="0">
              <a:buFont typeface="Arial" panose="020B0604020202020204" pitchFamily="34" charset="0"/>
              <a:buNone/>
            </a:pPr>
            <a:r>
              <a:t>Overfitting is when a model memorizes training data noise instead of learning general patterns.</a:t>
            </a:r>
            <a:endParaRPr lang="en-US"/>
          </a:p>
          <a:p>
            <a:pPr marL="0" indent="0">
              <a:spcBef>
                <a:spcPts val="2500"/>
              </a:spcBef>
              <a:buFont typeface="Arial" panose="020B0604020202020204" pitchFamily="34" charset="0"/>
              <a:buNone/>
            </a:pPr>
            <a:r>
              <a:rPr lang="en-US" b="1"/>
              <a:t>Key Indicators</a:t>
            </a:r>
          </a:p>
          <a:p>
            <a:pPr marL="0" lvl="1" indent="0">
              <a:buFont typeface="Arial" panose="020B0604020202020204" pitchFamily="34" charset="0"/>
              <a:buNone/>
            </a:pPr>
            <a:r>
              <a:t>Large gap between high training accuracy and low validation accuracy indicates overfitting.</a:t>
            </a:r>
            <a:endParaRPr lang="en-US"/>
          </a:p>
          <a:p>
            <a:pPr marL="0" indent="0">
              <a:spcBef>
                <a:spcPts val="2500"/>
              </a:spcBef>
              <a:buFont typeface="Arial" panose="020B0604020202020204" pitchFamily="34" charset="0"/>
              <a:buNone/>
            </a:pPr>
            <a:r>
              <a:rPr lang="en-US" b="1"/>
              <a:t>Model Complexity Issue</a:t>
            </a:r>
          </a:p>
          <a:p>
            <a:pPr marL="0" lvl="1" indent="0">
              <a:buFont typeface="Arial" panose="020B0604020202020204" pitchFamily="34" charset="0"/>
              <a:buNone/>
            </a:pPr>
            <a:r>
              <a:t>Using overly complex models on small datasets often causes overfitting and poor generalization.</a:t>
            </a:r>
            <a:endParaRPr lang="en-US"/>
          </a:p>
          <a:p>
            <a:pPr marL="0" indent="0">
              <a:spcBef>
                <a:spcPts val="2500"/>
              </a:spcBef>
              <a:buFont typeface="Arial" panose="020B0604020202020204" pitchFamily="34" charset="0"/>
              <a:buNone/>
            </a:pPr>
            <a:r>
              <a:rPr lang="en-US" b="1"/>
              <a:t>Learning Curves Insight</a:t>
            </a:r>
          </a:p>
          <a:p>
            <a:pPr marL="0" lvl="1" indent="0">
              <a:buFont typeface="Arial" panose="020B0604020202020204" pitchFamily="34" charset="0"/>
              <a:buNone/>
            </a:pPr>
            <a:r>
              <a:t>Learning curves show training score high while validation score stagnates or declines over time.</a:t>
            </a:r>
            <a:endParaRPr lang="en-US"/>
          </a:p>
        </p:txBody>
      </p:sp>
    </p:spTree>
    <p:extLst>
      <p:ext uri="{BB962C8B-B14F-4D97-AF65-F5344CB8AC3E}">
        <p14:creationId xmlns:p14="http://schemas.microsoft.com/office/powerpoint/2010/main" val="2519244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4086E-C9EF-2BEC-C8B9-A20A91AA98E6}"/>
              </a:ext>
            </a:extLst>
          </p:cNvPr>
          <p:cNvSpPr>
            <a:spLocks noGrp="1"/>
          </p:cNvSpPr>
          <p:nvPr>
            <p:ph type="ctrTitle"/>
          </p:nvPr>
        </p:nvSpPr>
        <p:spPr>
          <a:xfrm>
            <a:off x="612648" y="1417671"/>
            <a:ext cx="7909560" cy="4754529"/>
          </a:xfrm>
        </p:spPr>
        <p:txBody>
          <a:bodyPr anchor="b">
            <a:normAutofit/>
          </a:bodyPr>
          <a:lstStyle/>
          <a:p>
            <a:r>
              <a:rPr lang="en-US"/>
              <a:t>Why Overfitting Happens</a:t>
            </a:r>
          </a:p>
        </p:txBody>
      </p:sp>
    </p:spTree>
    <p:extLst>
      <p:ext uri="{BB962C8B-B14F-4D97-AF65-F5344CB8AC3E}">
        <p14:creationId xmlns:p14="http://schemas.microsoft.com/office/powerpoint/2010/main" val="18882369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31D78-55B0-F140-F175-B6890E236BC2}"/>
              </a:ext>
            </a:extLst>
          </p:cNvPr>
          <p:cNvSpPr>
            <a:spLocks noGrp="1"/>
          </p:cNvSpPr>
          <p:nvPr>
            <p:ph type="title"/>
          </p:nvPr>
        </p:nvSpPr>
        <p:spPr>
          <a:xfrm>
            <a:off x="612647" y="709099"/>
            <a:ext cx="3956305" cy="891101"/>
          </a:xfrm>
        </p:spPr>
        <p:txBody>
          <a:bodyPr anchor="b">
            <a:normAutofit/>
          </a:bodyPr>
          <a:lstStyle/>
          <a:p>
            <a:r>
              <a:rPr lang="en-US" sz="2200"/>
              <a:t>Causes and Contributing Factors</a:t>
            </a:r>
          </a:p>
        </p:txBody>
      </p:sp>
      <p:pic>
        <p:nvPicPr>
          <p:cNvPr id="5" name="Content Placeholder 4" descr="Data science data analytics, modernization, technology science quantum mechanics">
            <a:extLst>
              <a:ext uri="{FF2B5EF4-FFF2-40B4-BE49-F238E27FC236}">
                <a16:creationId xmlns:a16="http://schemas.microsoft.com/office/drawing/2014/main" id="{9022025C-9B78-4B35-A155-DDA6C3D7D71B}"/>
              </a:ext>
            </a:extLst>
          </p:cNvPr>
          <p:cNvPicPr>
            <a:picLocks noGrp="1" noChangeAspect="1"/>
          </p:cNvPicPr>
          <p:nvPr>
            <p:ph type="pic" sz="quarter" idx="15"/>
          </p:nvPr>
        </p:nvPicPr>
        <p:blipFill>
          <a:blip r:embed="rId3"/>
          <a:srcRect l="9707" r="23360" b="2"/>
          <a:stretch>
            <a:fillRect/>
          </a:stretch>
        </p:blipFill>
        <p:spPr>
          <a:xfrm>
            <a:off x="986599" y="2480792"/>
            <a:ext cx="4224528" cy="3392424"/>
          </a:xfrm>
        </p:spPr>
      </p:pic>
      <p:sp>
        <p:nvSpPr>
          <p:cNvPr id="4" name="Content Placeholder 3">
            <a:extLst>
              <a:ext uri="{FF2B5EF4-FFF2-40B4-BE49-F238E27FC236}">
                <a16:creationId xmlns:a16="http://schemas.microsoft.com/office/drawing/2014/main" id="{6277AB44-73FC-0C9C-33F3-959CB42461F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5999" y="732155"/>
            <a:ext cx="5486401" cy="5405377"/>
          </a:xfrm>
        </p:spPr>
        <p:txBody>
          <a:bodyPr>
            <a:normAutofit/>
          </a:bodyPr>
          <a:lstStyle/>
          <a:p>
            <a:pPr marL="0" indent="0">
              <a:spcBef>
                <a:spcPts val="2500"/>
              </a:spcBef>
              <a:buFont typeface="Arial" panose="020B0604020202020204" pitchFamily="34" charset="0"/>
              <a:buNone/>
            </a:pPr>
            <a:r>
              <a:rPr lang="en-US" b="1"/>
              <a:t>Model Complexity Issues</a:t>
            </a:r>
          </a:p>
          <a:p>
            <a:pPr marL="0" lvl="1" indent="0">
              <a:buFont typeface="Arial" panose="020B0604020202020204" pitchFamily="34" charset="0"/>
              <a:buNone/>
            </a:pPr>
            <a:r>
              <a:t>Excessive model complexity, like deep decision trees, causes overfitting by memorizing training data instead of generalizing.</a:t>
            </a:r>
            <a:endParaRPr lang="en-US"/>
          </a:p>
          <a:p>
            <a:pPr marL="0" indent="0">
              <a:spcBef>
                <a:spcPts val="2500"/>
              </a:spcBef>
              <a:buFont typeface="Arial" panose="020B0604020202020204" pitchFamily="34" charset="0"/>
              <a:buNone/>
            </a:pPr>
            <a:r>
              <a:rPr lang="en-US" b="1"/>
              <a:t>Insufficient Training Data</a:t>
            </a:r>
          </a:p>
          <a:p>
            <a:pPr marL="0" lvl="1" indent="0">
              <a:buFont typeface="Arial" panose="020B0604020202020204" pitchFamily="34" charset="0"/>
              <a:buNone/>
            </a:pPr>
            <a:r>
              <a:t>Too few examples make it easy for models to memorize data patterns, increasing risk of overfitting.</a:t>
            </a:r>
            <a:endParaRPr lang="en-US"/>
          </a:p>
          <a:p>
            <a:pPr marL="0" indent="0">
              <a:spcBef>
                <a:spcPts val="2500"/>
              </a:spcBef>
              <a:buFont typeface="Arial" panose="020B0604020202020204" pitchFamily="34" charset="0"/>
              <a:buNone/>
            </a:pPr>
            <a:r>
              <a:rPr lang="en-US" b="1"/>
              <a:t>Noisy or Irrelevant Features</a:t>
            </a:r>
          </a:p>
          <a:p>
            <a:pPr marL="0" lvl="1" indent="0">
              <a:buFont typeface="Arial" panose="020B0604020202020204" pitchFamily="34" charset="0"/>
              <a:buNone/>
            </a:pPr>
            <a:r>
              <a:t>Including many irrelevant features causes the model to fit noise, reducing its ability to generalize.</a:t>
            </a:r>
            <a:endParaRPr lang="en-US"/>
          </a:p>
          <a:p>
            <a:pPr marL="0" indent="0">
              <a:spcBef>
                <a:spcPts val="2500"/>
              </a:spcBef>
              <a:buFont typeface="Arial" panose="020B0604020202020204" pitchFamily="34" charset="0"/>
              <a:buNone/>
            </a:pPr>
            <a:r>
              <a:rPr lang="en-US" b="1"/>
              <a:t>Lack of Regularization</a:t>
            </a:r>
          </a:p>
          <a:p>
            <a:pPr marL="0" lvl="1" indent="0">
              <a:buFont typeface="Arial" panose="020B0604020202020204" pitchFamily="34" charset="0"/>
              <a:buNone/>
            </a:pPr>
            <a:r>
              <a:t>Weak or absent regularization allows over-flexible models, increasing the chance of overfitting.</a:t>
            </a:r>
            <a:endParaRPr lang="en-US"/>
          </a:p>
        </p:txBody>
      </p:sp>
    </p:spTree>
    <p:extLst>
      <p:ext uri="{BB962C8B-B14F-4D97-AF65-F5344CB8AC3E}">
        <p14:creationId xmlns:p14="http://schemas.microsoft.com/office/powerpoint/2010/main" val="5073701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B3631-9C38-A62B-0E09-CCB1F9C7F786}"/>
              </a:ext>
            </a:extLst>
          </p:cNvPr>
          <p:cNvSpPr>
            <a:spLocks noGrp="1"/>
          </p:cNvSpPr>
          <p:nvPr>
            <p:ph type="ctrTitle"/>
          </p:nvPr>
        </p:nvSpPr>
        <p:spPr>
          <a:xfrm>
            <a:off x="612648" y="1417671"/>
            <a:ext cx="7909560" cy="4754529"/>
          </a:xfrm>
        </p:spPr>
        <p:txBody>
          <a:bodyPr anchor="b">
            <a:normAutofit/>
          </a:bodyPr>
          <a:lstStyle/>
          <a:p>
            <a:r>
              <a:rPr lang="en-US" sz="6000"/>
              <a:t>Hyperparameter Tuning</a:t>
            </a:r>
          </a:p>
        </p:txBody>
      </p:sp>
    </p:spTree>
    <p:extLst>
      <p:ext uri="{BB962C8B-B14F-4D97-AF65-F5344CB8AC3E}">
        <p14:creationId xmlns:p14="http://schemas.microsoft.com/office/powerpoint/2010/main" val="17694259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F5028-EB25-F6B9-FA1E-A35D8D7C2D18}"/>
              </a:ext>
            </a:extLst>
          </p:cNvPr>
          <p:cNvSpPr>
            <a:spLocks noGrp="1"/>
          </p:cNvSpPr>
          <p:nvPr>
            <p:ph type="title"/>
          </p:nvPr>
        </p:nvSpPr>
        <p:spPr>
          <a:xfrm>
            <a:off x="609600" y="709099"/>
            <a:ext cx="8019289" cy="891101"/>
          </a:xfrm>
        </p:spPr>
        <p:txBody>
          <a:bodyPr anchor="b">
            <a:normAutofit/>
          </a:bodyPr>
          <a:lstStyle/>
          <a:p>
            <a:r>
              <a:rPr lang="en-US"/>
              <a:t>Strategies to Prevent Overfitting</a:t>
            </a:r>
          </a:p>
        </p:txBody>
      </p:sp>
      <p:sp>
        <p:nvSpPr>
          <p:cNvPr id="4" name="Content Placeholder 3">
            <a:extLst>
              <a:ext uri="{FF2B5EF4-FFF2-40B4-BE49-F238E27FC236}">
                <a16:creationId xmlns:a16="http://schemas.microsoft.com/office/drawing/2014/main" id="{4DB00AF0-5EEB-F778-FFA4-F3066181A8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sz="1300" b="1"/>
              <a:t>Hyperparameter Tuning Basics</a:t>
            </a:r>
          </a:p>
          <a:p>
            <a:pPr marL="0" lvl="1" indent="0">
              <a:buFont typeface="Arial" panose="020B0604020202020204" pitchFamily="34" charset="0"/>
              <a:buNone/>
            </a:pPr>
            <a:r>
              <a:rPr lang="en-US" sz="1300"/>
              <a:t>Hyperparameters are set before training and control model complexity and learning aspects to improve generalization.</a:t>
            </a:r>
          </a:p>
          <a:p>
            <a:pPr marL="0" indent="0">
              <a:spcBef>
                <a:spcPts val="2500"/>
              </a:spcBef>
              <a:buFont typeface="Arial" panose="020B0604020202020204" pitchFamily="34" charset="0"/>
              <a:buNone/>
            </a:pPr>
            <a:r>
              <a:rPr lang="en-US" sz="1300" b="1"/>
              <a:t>Search Strategies</a:t>
            </a:r>
          </a:p>
          <a:p>
            <a:pPr marL="0" lvl="1" indent="0">
              <a:buFont typeface="Arial" panose="020B0604020202020204" pitchFamily="34" charset="0"/>
              <a:buNone/>
            </a:pPr>
            <a:r>
              <a:rPr lang="en-US" sz="1300"/>
              <a:t>Grid Search explores all hyperparameter combinations systematically, while Random Search samples combinations for efficiency.</a:t>
            </a:r>
          </a:p>
          <a:p>
            <a:pPr marL="0" indent="0">
              <a:spcBef>
                <a:spcPts val="2500"/>
              </a:spcBef>
              <a:buFont typeface="Arial" panose="020B0604020202020204" pitchFamily="34" charset="0"/>
              <a:buNone/>
            </a:pPr>
            <a:r>
              <a:rPr lang="en-US" sz="1300" b="1"/>
              <a:t>Cross-Validation Importance</a:t>
            </a:r>
          </a:p>
          <a:p>
            <a:pPr marL="0" lvl="1" indent="0">
              <a:buFont typeface="Arial" panose="020B0604020202020204" pitchFamily="34" charset="0"/>
              <a:buNone/>
            </a:pPr>
            <a:r>
              <a:rPr lang="en-US" sz="1300"/>
              <a:t>Cross-validation evaluates model on multiple data subsets, reducing overfitting risk to a single validation set.</a:t>
            </a:r>
          </a:p>
          <a:p>
            <a:pPr marL="0" indent="0">
              <a:spcBef>
                <a:spcPts val="2500"/>
              </a:spcBef>
              <a:buFont typeface="Arial" panose="020B0604020202020204" pitchFamily="34" charset="0"/>
              <a:buNone/>
            </a:pPr>
            <a:r>
              <a:rPr lang="en-US" sz="1300" b="1"/>
              <a:t>Regularization Techniques</a:t>
            </a:r>
          </a:p>
          <a:p>
            <a:pPr marL="0" lvl="1" indent="0">
              <a:buFont typeface="Arial" panose="020B0604020202020204" pitchFamily="34" charset="0"/>
              <a:buNone/>
            </a:pPr>
            <a:r>
              <a:rPr lang="en-US" sz="1300"/>
              <a:t>Methods like limiting tree depth and dropout reduce model complexity to prevent overfitting effectively.</a:t>
            </a:r>
          </a:p>
        </p:txBody>
      </p:sp>
      <p:pic>
        <p:nvPicPr>
          <p:cNvPr id="5" name="Content Placeholder 4" descr="knob with scale">
            <a:extLst>
              <a:ext uri="{FF2B5EF4-FFF2-40B4-BE49-F238E27FC236}">
                <a16:creationId xmlns:a16="http://schemas.microsoft.com/office/drawing/2014/main" id="{F4ECF107-014F-45B3-AF3B-373E2CEEF084}"/>
              </a:ext>
            </a:extLst>
          </p:cNvPr>
          <p:cNvPicPr>
            <a:picLocks noGrp="1" noChangeAspect="1"/>
          </p:cNvPicPr>
          <p:nvPr>
            <p:ph type="pic" sz="quarter" idx="18"/>
          </p:nvPr>
        </p:nvPicPr>
        <p:blipFill>
          <a:blip r:embed="rId3"/>
          <a:srcRect l="37052" r="32571" b="1"/>
          <a:stretch>
            <a:fillRect/>
          </a:stretch>
        </p:blipFill>
        <p:spPr>
          <a:xfrm>
            <a:off x="9521861" y="269622"/>
            <a:ext cx="2395728" cy="6309360"/>
          </a:xfrm>
        </p:spPr>
      </p:pic>
    </p:spTree>
    <p:extLst>
      <p:ext uri="{BB962C8B-B14F-4D97-AF65-F5344CB8AC3E}">
        <p14:creationId xmlns:p14="http://schemas.microsoft.com/office/powerpoint/2010/main" val="35652944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B99ED26-B189-4BA1-99D0-1112D8C2F106}">
  <ds:schemaRefs>
    <ds:schemaRef ds:uri="http://purl.org/dc/elements/1.1/"/>
    <ds:schemaRef ds:uri="16c05727-aa75-4e4a-9b5f-8a80a1165891"/>
    <ds:schemaRef ds:uri="http://schemas.microsoft.com/office/infopath/2007/PartnerControls"/>
    <ds:schemaRef ds:uri="http://purl.org/dc/dcmitype/"/>
    <ds:schemaRef ds:uri="http://schemas.microsoft.com/office/2006/metadata/properties"/>
    <ds:schemaRef ds:uri="http://schemas.microsoft.com/office/2006/documentManagement/types"/>
    <ds:schemaRef ds:uri="http://purl.org/dc/terms/"/>
    <ds:schemaRef ds:uri="http://schemas.openxmlformats.org/package/2006/metadata/core-properties"/>
    <ds:schemaRef ds:uri="230e9df3-be65-4c73-a93b-d1236ebd677e"/>
    <ds:schemaRef ds:uri="71af3243-3dd4-4a8d-8c0d-dd76da1f02a5"/>
    <ds:schemaRef ds:uri="http://schemas.microsoft.com/sharepoint/v3"/>
    <ds:schemaRef ds:uri="http://www.w3.org/XML/1998/namespace"/>
  </ds:schemaRefs>
</ds:datastoreItem>
</file>

<file path=customXml/itemProps3.xml><?xml version="1.0" encoding="utf-8"?>
<ds:datastoreItem xmlns:ds="http://schemas.openxmlformats.org/officeDocument/2006/customXml" ds:itemID="{38E339AF-67FC-4BA3-8B2E-038B3ED310D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651</TotalTime>
  <Words>992</Words>
  <Application>Microsoft Office PowerPoint</Application>
  <PresentationFormat>Widescreen</PresentationFormat>
  <Paragraphs>46</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Batang</vt:lpstr>
      <vt:lpstr>Aptos</vt:lpstr>
      <vt:lpstr>Arial</vt:lpstr>
      <vt:lpstr>Avenir Next LT Pro Light</vt:lpstr>
      <vt:lpstr>Solace</vt:lpstr>
      <vt:lpstr>Understanding Overfitting &amp; Hyperparameter Tuning</vt:lpstr>
      <vt:lpstr>What Is Overfitting?</vt:lpstr>
      <vt:lpstr>Definition and Key Indicators</vt:lpstr>
      <vt:lpstr>Why Overfitting Happens</vt:lpstr>
      <vt:lpstr>Causes and Contributing Factors</vt:lpstr>
      <vt:lpstr>Hyperparameter Tuning</vt:lpstr>
      <vt:lpstr>Strategies to Prevent Overfitting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Emmanuel Ndahimana</dc:creator>
  <cp:lastModifiedBy>Emmanuel Ndahimana</cp:lastModifiedBy>
  <cp:revision>6</cp:revision>
  <dcterms:created xsi:type="dcterms:W3CDTF">2025-05-21T23:03:00Z</dcterms:created>
  <dcterms:modified xsi:type="dcterms:W3CDTF">2026-01-07T17:01:08Z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55c5eb89-a1ec-4cf8-b8d4-f6a23bcf8f72_Enabled">
    <vt:lpwstr>true</vt:lpwstr>
  </property>
  <property fmtid="{D5CDD505-2E9C-101B-9397-08002B2CF9AE}" pid="5" name="MSIP_Label_55c5eb89-a1ec-4cf8-b8d4-f6a23bcf8f72_SetDate">
    <vt:lpwstr>2026-01-07T16:19:01Z</vt:lpwstr>
  </property>
  <property fmtid="{D5CDD505-2E9C-101B-9397-08002B2CF9AE}" pid="6" name="MSIP_Label_55c5eb89-a1ec-4cf8-b8d4-f6a23bcf8f72_Method">
    <vt:lpwstr>Privileged</vt:lpwstr>
  </property>
  <property fmtid="{D5CDD505-2E9C-101B-9397-08002B2CF9AE}" pid="7" name="MSIP_Label_55c5eb89-a1ec-4cf8-b8d4-f6a23bcf8f72_Name">
    <vt:lpwstr>PUBLIC</vt:lpwstr>
  </property>
  <property fmtid="{D5CDD505-2E9C-101B-9397-08002B2CF9AE}" pid="8" name="MSIP_Label_55c5eb89-a1ec-4cf8-b8d4-f6a23bcf8f72_SiteId">
    <vt:lpwstr>968fd953-3deb-4543-8ab9-8b0f19e71ed9</vt:lpwstr>
  </property>
  <property fmtid="{D5CDD505-2E9C-101B-9397-08002B2CF9AE}" pid="9" name="MSIP_Label_55c5eb89-a1ec-4cf8-b8d4-f6a23bcf8f72_ActionId">
    <vt:lpwstr>e732c004-ac4c-4105-89fc-1a65e2344ea9</vt:lpwstr>
  </property>
  <property fmtid="{D5CDD505-2E9C-101B-9397-08002B2CF9AE}" pid="10" name="MSIP_Label_55c5eb89-a1ec-4cf8-b8d4-f6a23bcf8f72_ContentBits">
    <vt:lpwstr>0</vt:lpwstr>
  </property>
  <property fmtid="{D5CDD505-2E9C-101B-9397-08002B2CF9AE}" pid="11" name="MSIP_Label_55c5eb89-a1ec-4cf8-b8d4-f6a23bcf8f72_Tag">
    <vt:lpwstr>10, 0, 1, 2</vt:lpwstr>
  </property>
</Properties>
</file>